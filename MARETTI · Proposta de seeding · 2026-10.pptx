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8138160" y="-548640"/>
            <a:ext cx="4754880" cy="4754880"/>
          </a:xfrm>
          <a:prstGeom prst="ellipse">
            <a:avLst/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/>
          <p:nvPr/>
        </p:nvSpPr>
        <p:spPr>
          <a:xfrm>
            <a:off x="9692640" y="3108960"/>
            <a:ext cx="3108960" cy="3108960"/>
          </a:xfrm>
          <a:prstGeom prst="ellipse">
            <a:avLst/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C952E"/>
                </a:solidFill>
                <a:latin typeface="DM Sans"/>
              </a:rPr>
              <a:t>MOVE PARA AURORA · OUTUBRO 2026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" y="1371600"/>
            <a:ext cx="7772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0">
                <a:solidFill>
                  <a:srgbClr val="FFFFFF"/>
                </a:solidFill>
                <a:latin typeface="Bebas Neue"/>
              </a:rPr>
              <a:t>BRUSCHETTAS</a:t>
            </a:r>
          </a:p>
          <a:p>
            <a:pPr algn="l">
              <a:lnSpc>
                <a:spcPct val="90000"/>
              </a:lnSpc>
            </a:pPr>
            <a:r>
              <a:rPr sz="9600" b="0">
                <a:solidFill>
                  <a:srgbClr val="FFFFFF"/>
                </a:solidFill>
                <a:latin typeface="Bebas Neue"/>
              </a:rPr>
              <a:t>MARETTI</a:t>
            </a:r>
          </a:p>
        </p:txBody>
      </p:sp>
      <p:sp>
        <p:nvSpPr>
          <p:cNvPr id="6" name=""/>
          <p:cNvSpPr txBox="1"/>
          <p:nvPr/>
        </p:nvSpPr>
        <p:spPr>
          <a:xfrm>
            <a:off x="731520" y="388620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FFFFF"/>
                </a:solidFill>
                <a:latin typeface="DM Sans"/>
              </a:rPr>
              <a:t>Seeding orgânico com 40 creators: mailing, cinco caminhos de press kit e próximos passos para aprovação.</a:t>
            </a:r>
          </a:p>
        </p:txBody>
      </p:sp>
      <p:sp>
        <p:nvSpPr>
          <p:cNvPr id="7" name="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DM Sans"/>
              </a:rPr>
              <a:t>movementme  ·  Se não move, não muda.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O PROJETO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Um presente da marca, não publicidade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2</a:t>
            </a:r>
          </a:p>
        </p:txBody>
      </p:sp>
      <p:sp>
        <p:nvSpPr>
          <p:cNvPr id="7" name=""/>
          <p:cNvSpPr/>
          <p:nvPr/>
        </p:nvSpPr>
        <p:spPr>
          <a:xfrm>
            <a:off x="640080" y="2011680"/>
            <a:ext cx="3474720" cy="2926080"/>
          </a:xfrm>
          <a:prstGeom prst="roundRect">
            <a:avLst>
              <a:gd name="" fmla="val 8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"/>
          <p:cNvSpPr txBox="1"/>
          <p:nvPr/>
        </p:nvSpPr>
        <p:spPr>
          <a:xfrm>
            <a:off x="960119" y="214884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>
                <a:solidFill>
                  <a:srgbClr val="FFFFFF"/>
                </a:solidFill>
                <a:latin typeface="Bebas Neue"/>
              </a:rPr>
              <a:t>40</a:t>
            </a:r>
          </a:p>
        </p:txBody>
      </p:sp>
      <p:sp>
        <p:nvSpPr>
          <p:cNvPr id="9" name=""/>
          <p:cNvSpPr txBox="1"/>
          <p:nvPr/>
        </p:nvSpPr>
        <p:spPr>
          <a:xfrm>
            <a:off x="960119" y="3657600"/>
            <a:ext cx="2834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DM Sans"/>
              </a:rPr>
              <a:t>creators que já receberam seeding pela MOVE e já postaram</a:t>
            </a:r>
          </a:p>
        </p:txBody>
      </p:sp>
      <p:sp>
        <p:nvSpPr>
          <p:cNvPr id="10" name=""/>
          <p:cNvSpPr/>
          <p:nvPr/>
        </p:nvSpPr>
        <p:spPr>
          <a:xfrm>
            <a:off x="4389120" y="2011680"/>
            <a:ext cx="3474720" cy="2926080"/>
          </a:xfrm>
          <a:prstGeom prst="roundRect">
            <a:avLst>
              <a:gd name="" fmla="val 8000"/>
            </a:avLst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4709159" y="214884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>
                <a:solidFill>
                  <a:srgbClr val="FFFFFF"/>
                </a:solidFill>
                <a:latin typeface="Bebas Neue"/>
              </a:rPr>
              <a:t>6</a:t>
            </a:r>
          </a:p>
        </p:txBody>
      </p:sp>
      <p:sp>
        <p:nvSpPr>
          <p:cNvPr id="12" name=""/>
          <p:cNvSpPr txBox="1"/>
          <p:nvPr/>
        </p:nvSpPr>
        <p:spPr>
          <a:xfrm>
            <a:off x="4709159" y="3657600"/>
            <a:ext cx="2834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DM Sans"/>
              </a:rPr>
              <a:t>sabores de Bruschettas Maretti (85 g) em cada kit</a:t>
            </a:r>
          </a:p>
        </p:txBody>
      </p:sp>
      <p:sp>
        <p:nvSpPr>
          <p:cNvPr id="13" name=""/>
          <p:cNvSpPr/>
          <p:nvPr/>
        </p:nvSpPr>
        <p:spPr>
          <a:xfrm>
            <a:off x="8138159" y="2011680"/>
            <a:ext cx="3474720" cy="2926080"/>
          </a:xfrm>
          <a:prstGeom prst="roundRect">
            <a:avLst>
              <a:gd name="" fmla="val 8000"/>
            </a:avLst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 txBox="1"/>
          <p:nvPr/>
        </p:nvSpPr>
        <p:spPr>
          <a:xfrm>
            <a:off x="8458199" y="214884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0">
                <a:solidFill>
                  <a:srgbClr val="FFFFFF"/>
                </a:solidFill>
                <a:latin typeface="Bebas Neue"/>
              </a:rPr>
              <a:t>6</a:t>
            </a:r>
          </a:p>
        </p:txBody>
      </p:sp>
      <p:sp>
        <p:nvSpPr>
          <p:cNvPr id="15" name=""/>
          <p:cNvSpPr txBox="1"/>
          <p:nvPr/>
        </p:nvSpPr>
        <p:spPr>
          <a:xfrm>
            <a:off x="8458199" y="3657600"/>
            <a:ext cx="283464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DM Sans"/>
              </a:rPr>
              <a:t>semanas, da aprovação ao relatório final</a:t>
            </a:r>
          </a:p>
        </p:txBody>
      </p:sp>
      <p:sp>
        <p:nvSpPr>
          <p:cNvPr id="16" name=""/>
          <p:cNvSpPr txBox="1"/>
          <p:nvPr/>
        </p:nvSpPr>
        <p:spPr>
          <a:xfrm>
            <a:off x="640080" y="534924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A4A4A"/>
                </a:solidFill>
                <a:latin typeface="DM Sans"/>
              </a:rPr>
              <a:t>Sem contrato, sem cachê e sem obrigação de postar. O investimento aprovado (R$ 14.000) cobre operação, kit e frete; o produto é fornecido pela Aurora.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QUEM CONSOME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O aperitivo de quem recebe bem em casa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3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82880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B1010"/>
                </a:solidFill>
                <a:latin typeface="DM Sans"/>
              </a:rPr>
              <a:t>Quem: </a:t>
            </a:r>
            <a:r>
              <a:rPr sz="1700" b="0">
                <a:solidFill>
                  <a:srgbClr val="8B1010"/>
                </a:solidFill>
                <a:latin typeface="DM Sans"/>
              </a:rPr>
              <a:t>mulheres de 25 a 45 anos, classes A e B, em capitais, com SP e RJ à frente.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278892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B1010"/>
                </a:solidFill>
                <a:latin typeface="DM Sans"/>
              </a:rPr>
              <a:t>Onde compra: </a:t>
            </a:r>
            <a:r>
              <a:rPr sz="1700" b="0">
                <a:solidFill>
                  <a:srgbClr val="8B1010"/>
                </a:solidFill>
                <a:latin typeface="DM Sans"/>
              </a:rPr>
              <a:t>empórios, supermercados premium e Amazon, onde a marca já tem anúncio vendido pela própria Amazon.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749039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B1010"/>
                </a:solidFill>
                <a:latin typeface="DM Sans"/>
              </a:rPr>
              <a:t>Quando: </a:t>
            </a:r>
            <a:r>
              <a:rPr sz="1700" b="0">
                <a:solidFill>
                  <a:srgbClr val="8B1010"/>
                </a:solidFill>
                <a:latin typeface="DM Sans"/>
              </a:rPr>
              <a:t>tábua de frios com vinho, happy hour em casa, piquenique e viagem.</a:t>
            </a:r>
          </a:p>
        </p:txBody>
      </p:sp>
      <p:sp>
        <p:nvSpPr>
          <p:cNvPr id="10" name=""/>
          <p:cNvSpPr txBox="1"/>
          <p:nvPr/>
        </p:nvSpPr>
        <p:spPr>
          <a:xfrm>
            <a:off x="640080" y="4709160"/>
            <a:ext cx="67665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8B1010"/>
                </a:solidFill>
                <a:latin typeface="DM Sans"/>
              </a:rPr>
              <a:t>O que valoriza: </a:t>
            </a:r>
            <a:r>
              <a:rPr sz="1700" b="0">
                <a:solidFill>
                  <a:srgbClr val="8B1010"/>
                </a:solidFill>
                <a:latin typeface="DM Sans"/>
              </a:rPr>
              <a:t>produto importado, pão de verdade, ingredientes de origem natural.</a:t>
            </a:r>
          </a:p>
        </p:txBody>
      </p:sp>
      <p:sp>
        <p:nvSpPr>
          <p:cNvPr id="11" name=""/>
          <p:cNvSpPr/>
          <p:nvPr/>
        </p:nvSpPr>
        <p:spPr>
          <a:xfrm>
            <a:off x="7772400" y="1828800"/>
            <a:ext cx="3749039" cy="3931920"/>
          </a:xfrm>
          <a:prstGeom prst="roundRect">
            <a:avLst>
              <a:gd name="" fmla="val 6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"/>
          <p:cNvSpPr txBox="1"/>
          <p:nvPr/>
        </p:nvSpPr>
        <p:spPr>
          <a:xfrm>
            <a:off x="8046720" y="201168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C952E"/>
                </a:solidFill>
                <a:latin typeface="Bebas Neue"/>
              </a:rPr>
              <a:t>O DIFERENCIAL NA PRATELEIRA</a:t>
            </a:r>
          </a:p>
        </p:txBody>
      </p:sp>
      <p:sp>
        <p:nvSpPr>
          <p:cNvPr id="13" name=""/>
          <p:cNvSpPr txBox="1"/>
          <p:nvPr/>
        </p:nvSpPr>
        <p:spPr>
          <a:xfrm>
            <a:off x="8046720" y="2606040"/>
            <a:ext cx="329184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O pão chips de supermercado custa cerca de R$ 7 e tem um sabor.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As Bruschettas Maretti custam de R$ 11 a R$ 18 e têm seis.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O kit precisa mostrar variedade, origem europeia e o momento do aperitivo.</a:t>
            </a:r>
          </a:p>
        </p:txBody>
      </p:sp>
      <p:sp>
        <p:nvSpPr>
          <p:cNvPr id="14" name=""/>
          <p:cNvSpPr txBox="1"/>
          <p:nvPr/>
        </p:nvSpPr>
        <p:spPr>
          <a:xfrm>
            <a:off x="640080" y="585216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Perfil estimado pela MOVE a partir de preço e canal de venda; não é pesquisa da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A CURADORIA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Quem já postou, para máxima efetividade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4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0020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8B1010"/>
                </a:solidFill>
                <a:latin typeface="DM Sans"/>
              </a:rPr>
              <a:t>Recomendamos começar por creators que já receberam seeding da MOVE, tiveram boa performance e publicaram. Todos os 40 nomes têm post confirmado em ações anteriores. Endereços confirmados com cada creator antes do envio.</a:t>
            </a:r>
          </a:p>
        </p:txBody>
      </p:sp>
      <p:sp>
        <p:nvSpPr>
          <p:cNvPr id="8" name=""/>
          <p:cNvSpPr/>
          <p:nvPr/>
        </p:nvSpPr>
        <p:spPr>
          <a:xfrm>
            <a:off x="640080" y="2743200"/>
            <a:ext cx="2606040" cy="3108960"/>
          </a:xfrm>
          <a:prstGeom prst="roundRect">
            <a:avLst>
              <a:gd name="" fmla="val 6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"/>
          <p:cNvSpPr txBox="1"/>
          <p:nvPr/>
        </p:nvSpPr>
        <p:spPr>
          <a:xfrm>
            <a:off x="868680" y="28346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>
                <a:solidFill>
                  <a:srgbClr val="FFFFFF"/>
                </a:solidFill>
                <a:latin typeface="Bebas Neue"/>
              </a:rPr>
              <a:t>12</a:t>
            </a:r>
          </a:p>
        </p:txBody>
      </p:sp>
      <p:sp>
        <p:nvSpPr>
          <p:cNvPr id="10" name=""/>
          <p:cNvSpPr txBox="1"/>
          <p:nvPr/>
        </p:nvSpPr>
        <p:spPr>
          <a:xfrm>
            <a:off x="868680" y="3977639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DM Sans"/>
              </a:rPr>
              <a:t>Aperitivo e gastronomia</a:t>
            </a:r>
          </a:p>
        </p:txBody>
      </p:sp>
      <p:sp>
        <p:nvSpPr>
          <p:cNvPr id="11" name=""/>
          <p:cNvSpPr txBox="1"/>
          <p:nvPr/>
        </p:nvSpPr>
        <p:spPr>
          <a:xfrm>
            <a:off x="868680" y="46634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M Sans"/>
              </a:rPr>
              <a:t>As bruschettas na tábua, com queijo, vinho e pastinhas.</a:t>
            </a:r>
          </a:p>
        </p:txBody>
      </p:sp>
      <p:sp>
        <p:nvSpPr>
          <p:cNvPr id="12" name=""/>
          <p:cNvSpPr/>
          <p:nvPr/>
        </p:nvSpPr>
        <p:spPr>
          <a:xfrm>
            <a:off x="3456432" y="2743200"/>
            <a:ext cx="2606040" cy="3108960"/>
          </a:xfrm>
          <a:prstGeom prst="roundRect">
            <a:avLst>
              <a:gd name="" fmla="val 6000"/>
            </a:avLst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 txBox="1"/>
          <p:nvPr/>
        </p:nvSpPr>
        <p:spPr>
          <a:xfrm>
            <a:off x="3685032" y="28346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>
                <a:solidFill>
                  <a:srgbClr val="FFFFFF"/>
                </a:solidFill>
                <a:latin typeface="Bebas Neue"/>
              </a:rPr>
              <a:t>10</a:t>
            </a:r>
          </a:p>
        </p:txBody>
      </p:sp>
      <p:sp>
        <p:nvSpPr>
          <p:cNvPr id="14" name=""/>
          <p:cNvSpPr txBox="1"/>
          <p:nvPr/>
        </p:nvSpPr>
        <p:spPr>
          <a:xfrm>
            <a:off x="3685032" y="3977639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DM Sans"/>
              </a:rPr>
              <a:t>Mesa posta e receber</a:t>
            </a:r>
          </a:p>
        </p:txBody>
      </p:sp>
      <p:sp>
        <p:nvSpPr>
          <p:cNvPr id="15" name=""/>
          <p:cNvSpPr txBox="1"/>
          <p:nvPr/>
        </p:nvSpPr>
        <p:spPr>
          <a:xfrm>
            <a:off x="3685032" y="46634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M Sans"/>
              </a:rPr>
              <a:t>O aperitivo pronto e bonito para as visitas.</a:t>
            </a:r>
          </a:p>
        </p:txBody>
      </p:sp>
      <p:sp>
        <p:nvSpPr>
          <p:cNvPr id="16" name=""/>
          <p:cNvSpPr/>
          <p:nvPr/>
        </p:nvSpPr>
        <p:spPr>
          <a:xfrm>
            <a:off x="6272784" y="2743200"/>
            <a:ext cx="2606040" cy="3108960"/>
          </a:xfrm>
          <a:prstGeom prst="roundRect">
            <a:avLst>
              <a:gd name="" fmla="val 6000"/>
            </a:avLst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"/>
          <p:cNvSpPr txBox="1"/>
          <p:nvPr/>
        </p:nvSpPr>
        <p:spPr>
          <a:xfrm>
            <a:off x="6501384" y="28346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>
                <a:solidFill>
                  <a:srgbClr val="FFFFFF"/>
                </a:solidFill>
                <a:latin typeface="Bebas Neue"/>
              </a:rPr>
              <a:t>10</a:t>
            </a:r>
          </a:p>
        </p:txBody>
      </p:sp>
      <p:sp>
        <p:nvSpPr>
          <p:cNvPr id="18" name=""/>
          <p:cNvSpPr txBox="1"/>
          <p:nvPr/>
        </p:nvSpPr>
        <p:spPr>
          <a:xfrm>
            <a:off x="6501384" y="3977639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DM Sans"/>
              </a:rPr>
              <a:t>Casal e lifestyle</a:t>
            </a:r>
          </a:p>
        </p:txBody>
      </p:sp>
      <p:sp>
        <p:nvSpPr>
          <p:cNvPr id="19" name=""/>
          <p:cNvSpPr txBox="1"/>
          <p:nvPr/>
        </p:nvSpPr>
        <p:spPr>
          <a:xfrm>
            <a:off x="6501384" y="46634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M Sans"/>
              </a:rPr>
              <a:t>O tom leve e bem-humorado da marca.</a:t>
            </a:r>
          </a:p>
        </p:txBody>
      </p:sp>
      <p:sp>
        <p:nvSpPr>
          <p:cNvPr id="20" name=""/>
          <p:cNvSpPr/>
          <p:nvPr/>
        </p:nvSpPr>
        <p:spPr>
          <a:xfrm>
            <a:off x="9089136" y="2743200"/>
            <a:ext cx="2606040" cy="3108960"/>
          </a:xfrm>
          <a:prstGeom prst="roundRect">
            <a:avLst>
              <a:gd name="" fmla="val 6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 txBox="1"/>
          <p:nvPr/>
        </p:nvSpPr>
        <p:spPr>
          <a:xfrm>
            <a:off x="9317736" y="28346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>
                <a:solidFill>
                  <a:srgbClr val="FFFFFF"/>
                </a:solidFill>
                <a:latin typeface="Bebas Neue"/>
              </a:rPr>
              <a:t>8</a:t>
            </a:r>
          </a:p>
        </p:txBody>
      </p:sp>
      <p:sp>
        <p:nvSpPr>
          <p:cNvPr id="22" name=""/>
          <p:cNvSpPr txBox="1"/>
          <p:nvPr/>
        </p:nvSpPr>
        <p:spPr>
          <a:xfrm>
            <a:off x="9317736" y="3977639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DM Sans"/>
              </a:rPr>
              <a:t>Piquenique e viagem</a:t>
            </a:r>
          </a:p>
        </p:txBody>
      </p:sp>
      <p:sp>
        <p:nvSpPr>
          <p:cNvPr id="23" name=""/>
          <p:cNvSpPr txBox="1"/>
          <p:nvPr/>
        </p:nvSpPr>
        <p:spPr>
          <a:xfrm>
            <a:off x="9317736" y="4663440"/>
            <a:ext cx="21945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DM Sans"/>
              </a:rPr>
              <a:t>O snack de levar e dividir, fora de casa.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ONDE ESTÃO OS 40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21 em SP, 8 no RJ, 29 no Sudeste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5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25A1B"/>
                </a:solidFill>
                <a:latin typeface="Bebas Neue"/>
              </a:rPr>
              <a:t>CREATORS POR ESTADO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20574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SP</a:t>
            </a:r>
          </a:p>
        </p:txBody>
      </p:sp>
      <p:sp>
        <p:nvSpPr>
          <p:cNvPr id="9" name=""/>
          <p:cNvSpPr/>
          <p:nvPr/>
        </p:nvSpPr>
        <p:spPr>
          <a:xfrm>
            <a:off x="1371600" y="2112264"/>
            <a:ext cx="3657600" cy="274320"/>
          </a:xfrm>
          <a:prstGeom prst="roundRect">
            <a:avLst>
              <a:gd name="" fmla="val 30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"/>
          <p:cNvSpPr txBox="1"/>
          <p:nvPr/>
        </p:nvSpPr>
        <p:spPr>
          <a:xfrm>
            <a:off x="5120640" y="20574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21</a:t>
            </a:r>
          </a:p>
        </p:txBody>
      </p:sp>
      <p:sp>
        <p:nvSpPr>
          <p:cNvPr id="11" name=""/>
          <p:cNvSpPr txBox="1"/>
          <p:nvPr/>
        </p:nvSpPr>
        <p:spPr>
          <a:xfrm>
            <a:off x="640080" y="25146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RJ</a:t>
            </a:r>
          </a:p>
        </p:txBody>
      </p:sp>
      <p:sp>
        <p:nvSpPr>
          <p:cNvPr id="12" name=""/>
          <p:cNvSpPr/>
          <p:nvPr/>
        </p:nvSpPr>
        <p:spPr>
          <a:xfrm>
            <a:off x="1371600" y="2569464"/>
            <a:ext cx="1393371" cy="274320"/>
          </a:xfrm>
          <a:prstGeom prst="roundRect">
            <a:avLst>
              <a:gd name="" fmla="val 30000"/>
            </a:avLst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 txBox="1"/>
          <p:nvPr/>
        </p:nvSpPr>
        <p:spPr>
          <a:xfrm>
            <a:off x="2856411" y="25146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8</a:t>
            </a:r>
          </a:p>
        </p:txBody>
      </p:sp>
      <p:sp>
        <p:nvSpPr>
          <p:cNvPr id="14" name=""/>
          <p:cNvSpPr txBox="1"/>
          <p:nvPr/>
        </p:nvSpPr>
        <p:spPr>
          <a:xfrm>
            <a:off x="640080" y="29718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SC</a:t>
            </a:r>
          </a:p>
        </p:txBody>
      </p:sp>
      <p:sp>
        <p:nvSpPr>
          <p:cNvPr id="15" name=""/>
          <p:cNvSpPr/>
          <p:nvPr/>
        </p:nvSpPr>
        <p:spPr>
          <a:xfrm>
            <a:off x="1371600" y="3026664"/>
            <a:ext cx="696685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 txBox="1"/>
          <p:nvPr/>
        </p:nvSpPr>
        <p:spPr>
          <a:xfrm>
            <a:off x="2159725" y="29718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4</a:t>
            </a:r>
          </a:p>
        </p:txBody>
      </p:sp>
      <p:sp>
        <p:nvSpPr>
          <p:cNvPr id="17" name=""/>
          <p:cNvSpPr txBox="1"/>
          <p:nvPr/>
        </p:nvSpPr>
        <p:spPr>
          <a:xfrm>
            <a:off x="640080" y="34290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PR</a:t>
            </a:r>
          </a:p>
        </p:txBody>
      </p:sp>
      <p:sp>
        <p:nvSpPr>
          <p:cNvPr id="18" name=""/>
          <p:cNvSpPr/>
          <p:nvPr/>
        </p:nvSpPr>
        <p:spPr>
          <a:xfrm>
            <a:off x="1371600" y="3483864"/>
            <a:ext cx="522514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 txBox="1"/>
          <p:nvPr/>
        </p:nvSpPr>
        <p:spPr>
          <a:xfrm>
            <a:off x="1985554" y="34290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3</a:t>
            </a:r>
          </a:p>
        </p:txBody>
      </p:sp>
      <p:sp>
        <p:nvSpPr>
          <p:cNvPr id="20" name=""/>
          <p:cNvSpPr txBox="1"/>
          <p:nvPr/>
        </p:nvSpPr>
        <p:spPr>
          <a:xfrm>
            <a:off x="640080" y="38862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ES</a:t>
            </a:r>
          </a:p>
        </p:txBody>
      </p:sp>
      <p:sp>
        <p:nvSpPr>
          <p:cNvPr id="21" name=""/>
          <p:cNvSpPr/>
          <p:nvPr/>
        </p:nvSpPr>
        <p:spPr>
          <a:xfrm>
            <a:off x="1371600" y="3941063"/>
            <a:ext cx="174171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 txBox="1"/>
          <p:nvPr/>
        </p:nvSpPr>
        <p:spPr>
          <a:xfrm>
            <a:off x="1637211" y="38862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1</a:t>
            </a:r>
          </a:p>
        </p:txBody>
      </p:sp>
      <p:sp>
        <p:nvSpPr>
          <p:cNvPr id="23" name=""/>
          <p:cNvSpPr txBox="1"/>
          <p:nvPr/>
        </p:nvSpPr>
        <p:spPr>
          <a:xfrm>
            <a:off x="640080" y="43434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MG</a:t>
            </a:r>
          </a:p>
        </p:txBody>
      </p:sp>
      <p:sp>
        <p:nvSpPr>
          <p:cNvPr id="24" name=""/>
          <p:cNvSpPr/>
          <p:nvPr/>
        </p:nvSpPr>
        <p:spPr>
          <a:xfrm>
            <a:off x="1371600" y="4398264"/>
            <a:ext cx="174171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 txBox="1"/>
          <p:nvPr/>
        </p:nvSpPr>
        <p:spPr>
          <a:xfrm>
            <a:off x="1637211" y="43434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1</a:t>
            </a:r>
          </a:p>
        </p:txBody>
      </p:sp>
      <p:sp>
        <p:nvSpPr>
          <p:cNvPr id="26" name=""/>
          <p:cNvSpPr txBox="1"/>
          <p:nvPr/>
        </p:nvSpPr>
        <p:spPr>
          <a:xfrm>
            <a:off x="640080" y="48006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GO</a:t>
            </a:r>
          </a:p>
        </p:txBody>
      </p:sp>
      <p:sp>
        <p:nvSpPr>
          <p:cNvPr id="27" name=""/>
          <p:cNvSpPr/>
          <p:nvPr/>
        </p:nvSpPr>
        <p:spPr>
          <a:xfrm>
            <a:off x="1371600" y="4855464"/>
            <a:ext cx="174171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 txBox="1"/>
          <p:nvPr/>
        </p:nvSpPr>
        <p:spPr>
          <a:xfrm>
            <a:off x="1637211" y="48006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1</a:t>
            </a:r>
          </a:p>
        </p:txBody>
      </p:sp>
      <p:sp>
        <p:nvSpPr>
          <p:cNvPr id="29" name=""/>
          <p:cNvSpPr txBox="1"/>
          <p:nvPr/>
        </p:nvSpPr>
        <p:spPr>
          <a:xfrm>
            <a:off x="640080" y="5257800"/>
            <a:ext cx="7315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B1010"/>
                </a:solidFill>
                <a:latin typeface="Bebas Neue"/>
              </a:rPr>
              <a:t>BA</a:t>
            </a:r>
          </a:p>
        </p:txBody>
      </p:sp>
      <p:sp>
        <p:nvSpPr>
          <p:cNvPr id="30" name=""/>
          <p:cNvSpPr/>
          <p:nvPr/>
        </p:nvSpPr>
        <p:spPr>
          <a:xfrm>
            <a:off x="1371600" y="5312664"/>
            <a:ext cx="174171" cy="274320"/>
          </a:xfrm>
          <a:prstGeom prst="roundRect">
            <a:avLst>
              <a:gd name="" fmla="val 3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 txBox="1"/>
          <p:nvPr/>
        </p:nvSpPr>
        <p:spPr>
          <a:xfrm>
            <a:off x="1637211" y="5257800"/>
            <a:ext cx="6400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B1010"/>
                </a:solidFill>
                <a:latin typeface="Bebas Neue"/>
              </a:rPr>
              <a:t>1</a:t>
            </a:r>
          </a:p>
        </p:txBody>
      </p:sp>
      <p:sp>
        <p:nvSpPr>
          <p:cNvPr id="32" name=""/>
          <p:cNvSpPr txBox="1"/>
          <p:nvPr/>
        </p:nvSpPr>
        <p:spPr>
          <a:xfrm>
            <a:off x="6309360" y="16002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25A1B"/>
                </a:solidFill>
                <a:latin typeface="Bebas Neue"/>
              </a:rPr>
              <a:t>ESTADO × GRUPO</a:t>
            </a:r>
          </a:p>
        </p:txBody>
      </p:sp>
      <p:graphicFrame>
        <p:nvGraphicFramePr>
          <p:cNvPr id="33" name=""/>
          <p:cNvGraphicFramePr>
            <a:graphicFrameLocks noGrp="1"/>
          </p:cNvGraphicFramePr>
          <p:nvPr/>
        </p:nvGraphicFramePr>
        <p:xfrm>
          <a:off x="6309360" y="2057400"/>
          <a:ext cx="53949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Grupo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SC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PR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ES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MG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GO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</a:rPr>
                        <a:t>BA</a:t>
                      </a:r>
                    </a:p>
                  </a:txBody>
                  <a:tcPr marL="45720" marR="45720" anchor="ctr">
                    <a:solidFill>
                      <a:srgbClr val="8B10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Aperitivo · 12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7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Mesa posta · 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Casal · 10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B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Piquenique · 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B1010"/>
                          </a:solidFill>
                          <a:latin typeface="DM Sans"/>
                        </a:rPr>
                        <a:t>·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Total · 40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21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720" marR="45720" anchor="ctr">
                    <a:solidFill>
                      <a:srgbClr val="EC952E"/>
                    </a:solidFill>
                  </a:tcPr>
                </a:tc>
              </a:tr>
            </a:tbl>
          </a:graphicData>
        </a:graphic>
      </p:graphicFrame>
      <p:sp>
        <p:nvSpPr>
          <p:cNvPr id="34" name=""/>
          <p:cNvSpPr txBox="1"/>
          <p:nvPr/>
        </p:nvSpPr>
        <p:spPr>
          <a:xfrm>
            <a:off x="6309360" y="44348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29</a:t>
            </a:r>
          </a:p>
        </p:txBody>
      </p:sp>
      <p:sp>
        <p:nvSpPr>
          <p:cNvPr id="35" name=""/>
          <p:cNvSpPr txBox="1"/>
          <p:nvPr/>
        </p:nvSpPr>
        <p:spPr>
          <a:xfrm>
            <a:off x="6309360" y="5029200"/>
            <a:ext cx="1691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no Sudeste: SP, RJ, MG e ES</a:t>
            </a:r>
          </a:p>
        </p:txBody>
      </p:sp>
      <p:sp>
        <p:nvSpPr>
          <p:cNvPr id="36" name=""/>
          <p:cNvSpPr txBox="1"/>
          <p:nvPr/>
        </p:nvSpPr>
        <p:spPr>
          <a:xfrm>
            <a:off x="8138160" y="44348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F25A1B"/>
                </a:solidFill>
                <a:latin typeface="Bebas Neue"/>
              </a:rPr>
              <a:t>8</a:t>
            </a:r>
          </a:p>
        </p:txBody>
      </p:sp>
      <p:sp>
        <p:nvSpPr>
          <p:cNvPr id="37" name=""/>
          <p:cNvSpPr txBox="1"/>
          <p:nvPr/>
        </p:nvSpPr>
        <p:spPr>
          <a:xfrm>
            <a:off x="8138160" y="5029200"/>
            <a:ext cx="1691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no Sul: SC e PR</a:t>
            </a:r>
          </a:p>
        </p:txBody>
      </p:sp>
      <p:sp>
        <p:nvSpPr>
          <p:cNvPr id="38" name=""/>
          <p:cNvSpPr txBox="1"/>
          <p:nvPr/>
        </p:nvSpPr>
        <p:spPr>
          <a:xfrm>
            <a:off x="9966960" y="4434840"/>
            <a:ext cx="1737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6D870A"/>
                </a:solidFill>
                <a:latin typeface="Bebas Neue"/>
              </a:rPr>
              <a:t>3</a:t>
            </a:r>
          </a:p>
        </p:txBody>
      </p:sp>
      <p:sp>
        <p:nvSpPr>
          <p:cNvPr id="39" name=""/>
          <p:cNvSpPr txBox="1"/>
          <p:nvPr/>
        </p:nvSpPr>
        <p:spPr>
          <a:xfrm>
            <a:off x="9966960" y="5029200"/>
            <a:ext cx="1691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no Centro-Oeste e Nordeste: GO e BA</a:t>
            </a:r>
          </a:p>
        </p:txBody>
      </p:sp>
      <p:sp>
        <p:nvSpPr>
          <p:cNvPr id="40" name="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4A4A"/>
                </a:solidFill>
                <a:latin typeface="DM Sans"/>
              </a:rPr>
              <a:t>Estado pelo CEP de envio da base da MOVE. Se a Aurora tiver praças prioritárias de distribuição, ajustamos o mailing para concentrar nelas.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MAILING · 1 DE 2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Aperitivo, gastronomia e mesa posta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6</a:t>
            </a:r>
          </a:p>
        </p:txBody>
      </p:sp>
      <p:sp>
        <p:nvSpPr>
          <p:cNvPr id="7" name=""/>
          <p:cNvSpPr/>
          <p:nvPr/>
        </p:nvSpPr>
        <p:spPr>
          <a:xfrm>
            <a:off x="640080" y="1554480"/>
            <a:ext cx="5349240" cy="438912"/>
          </a:xfrm>
          <a:prstGeom prst="roundRect">
            <a:avLst>
              <a:gd name="" fmla="val 25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"/>
          <p:cNvSpPr txBox="1"/>
          <p:nvPr/>
        </p:nvSpPr>
        <p:spPr>
          <a:xfrm>
            <a:off x="822959" y="1554480"/>
            <a:ext cx="42062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Bebas Neue"/>
              </a:rPr>
              <a:t>APERITIVO E GASTRONOMIA</a:t>
            </a:r>
          </a:p>
        </p:txBody>
      </p:sp>
      <p:sp>
        <p:nvSpPr>
          <p:cNvPr id="9" name=""/>
          <p:cNvSpPr txBox="1"/>
          <p:nvPr/>
        </p:nvSpPr>
        <p:spPr>
          <a:xfrm>
            <a:off x="4617720" y="1554480"/>
            <a:ext cx="1234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12 creators</a:t>
            </a:r>
          </a:p>
        </p:txBody>
      </p:sp>
      <p:sp>
        <p:nvSpPr>
          <p:cNvPr id="10" name=""/>
          <p:cNvSpPr txBox="1"/>
          <p:nvPr/>
        </p:nvSpPr>
        <p:spPr>
          <a:xfrm>
            <a:off x="731519" y="2029968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1010"/>
                </a:solidFill>
                <a:latin typeface="DM Sans"/>
              </a:rPr>
              <a:t>Por estado: </a:t>
            </a:r>
            <a:r>
              <a:rPr sz="1200" b="0">
                <a:solidFill>
                  <a:srgbClr val="8B1010"/>
                </a:solidFill>
                <a:latin typeface="DM Sans"/>
              </a:rPr>
              <a:t>SP 7  ·  PR 2  ·  ES 1  ·  RJ 1  ·  SC 1</a:t>
            </a:r>
          </a:p>
        </p:txBody>
      </p:sp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640080" y="2395728"/>
          <a:ext cx="534924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"/>
                <a:gridCol w="1005840"/>
                <a:gridCol w="8229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Perfil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UF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Seguidores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Eng.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Posts c/ MOVE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@izabeladolabela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350,3k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1,18%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@natkoch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315k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2,65%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@menujouet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23,3k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9,34%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@kaoryeats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298,8k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6,55%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@_boracomerbem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ES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76,5k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3,46%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@graziaazevedoo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141,6k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7,38%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@letsmil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60,3k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8,16%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@lauratavaresf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120,6k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2,82%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@luizamaffort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247,8k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2,92%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@flavdell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SC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395,6k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3,3%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@nathalia.pianaro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PR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145,9k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1,68%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@isabellacavalheiro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PR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58,4k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2,23%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/>
          <p:cNvSpPr/>
          <p:nvPr/>
        </p:nvSpPr>
        <p:spPr>
          <a:xfrm>
            <a:off x="6217920" y="1554480"/>
            <a:ext cx="5349240" cy="438912"/>
          </a:xfrm>
          <a:prstGeom prst="roundRect">
            <a:avLst>
              <a:gd name="" fmla="val 25000"/>
            </a:avLst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 txBox="1"/>
          <p:nvPr/>
        </p:nvSpPr>
        <p:spPr>
          <a:xfrm>
            <a:off x="6400800" y="1554480"/>
            <a:ext cx="42062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Bebas Neue"/>
              </a:rPr>
              <a:t>MESA POSTA E RECEBER</a:t>
            </a:r>
          </a:p>
        </p:txBody>
      </p:sp>
      <p:sp>
        <p:nvSpPr>
          <p:cNvPr id="14" name=""/>
          <p:cNvSpPr txBox="1"/>
          <p:nvPr/>
        </p:nvSpPr>
        <p:spPr>
          <a:xfrm>
            <a:off x="10195559" y="1554480"/>
            <a:ext cx="1234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10 creators</a:t>
            </a:r>
          </a:p>
        </p:txBody>
      </p:sp>
      <p:sp>
        <p:nvSpPr>
          <p:cNvPr id="15" name=""/>
          <p:cNvSpPr txBox="1"/>
          <p:nvPr/>
        </p:nvSpPr>
        <p:spPr>
          <a:xfrm>
            <a:off x="6309359" y="2029968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1010"/>
                </a:solidFill>
                <a:latin typeface="DM Sans"/>
              </a:rPr>
              <a:t>Por estado: </a:t>
            </a:r>
            <a:r>
              <a:rPr sz="1200" b="0">
                <a:solidFill>
                  <a:srgbClr val="8B1010"/>
                </a:solidFill>
                <a:latin typeface="DM Sans"/>
              </a:rPr>
              <a:t>SP 6  ·  SC 2  ·  MG 1  ·  GO 1</a:t>
            </a:r>
          </a:p>
        </p:txBody>
      </p:sp>
      <p:graphicFrame>
        <p:nvGraphicFramePr>
          <p:cNvPr id="16" name=""/>
          <p:cNvGraphicFramePr>
            <a:graphicFrameLocks noGrp="1"/>
          </p:cNvGraphicFramePr>
          <p:nvPr/>
        </p:nvGraphicFramePr>
        <p:xfrm>
          <a:off x="6217920" y="2395728"/>
          <a:ext cx="53492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"/>
                <a:gridCol w="1005840"/>
                <a:gridCol w="8229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Perfil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UF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Seguidores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Eng.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Posts c/ MOVE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@amandferrari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106,8k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3,58%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@giselleboacnin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32,3k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@elisabax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MG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49,6k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1,64%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@palomavoi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46,3k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1,71%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@marina_xando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132k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1,46%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@lu_bacchi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248,6k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1,56%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@fogaovermelho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72,4k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1,63%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@rafaelagb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SC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243,3k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1,41%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@mesabemdita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GO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246k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7,67%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@nathaliaccorrea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SC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73,3k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1,96%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Métricas da data do último mailing; atualizamos antes do contato. Estado pelo CEP de envio da base da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MAILING · 2 DE 2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Casal, lifestyle, piquenique e viagem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7</a:t>
            </a:r>
          </a:p>
        </p:txBody>
      </p:sp>
      <p:sp>
        <p:nvSpPr>
          <p:cNvPr id="7" name=""/>
          <p:cNvSpPr/>
          <p:nvPr/>
        </p:nvSpPr>
        <p:spPr>
          <a:xfrm>
            <a:off x="640080" y="1554480"/>
            <a:ext cx="5349240" cy="438912"/>
          </a:xfrm>
          <a:prstGeom prst="roundRect">
            <a:avLst>
              <a:gd name="" fmla="val 25000"/>
            </a:avLst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"/>
          <p:cNvSpPr txBox="1"/>
          <p:nvPr/>
        </p:nvSpPr>
        <p:spPr>
          <a:xfrm>
            <a:off x="822959" y="1554480"/>
            <a:ext cx="42062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Bebas Neue"/>
              </a:rPr>
              <a:t>CASAL E LIFESTYLE</a:t>
            </a:r>
          </a:p>
        </p:txBody>
      </p:sp>
      <p:sp>
        <p:nvSpPr>
          <p:cNvPr id="9" name=""/>
          <p:cNvSpPr txBox="1"/>
          <p:nvPr/>
        </p:nvSpPr>
        <p:spPr>
          <a:xfrm>
            <a:off x="4617720" y="1554480"/>
            <a:ext cx="1234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10 creators</a:t>
            </a:r>
          </a:p>
        </p:txBody>
      </p:sp>
      <p:sp>
        <p:nvSpPr>
          <p:cNvPr id="10" name=""/>
          <p:cNvSpPr txBox="1"/>
          <p:nvPr/>
        </p:nvSpPr>
        <p:spPr>
          <a:xfrm>
            <a:off x="731519" y="2029968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1010"/>
                </a:solidFill>
                <a:latin typeface="DM Sans"/>
              </a:rPr>
              <a:t>Por estado: </a:t>
            </a:r>
            <a:r>
              <a:rPr sz="1200" b="0">
                <a:solidFill>
                  <a:srgbClr val="8B1010"/>
                </a:solidFill>
                <a:latin typeface="DM Sans"/>
              </a:rPr>
              <a:t>RJ 5  ·  SP 4  ·  BA 1</a:t>
            </a:r>
          </a:p>
        </p:txBody>
      </p:sp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640080" y="2395728"/>
          <a:ext cx="53492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"/>
                <a:gridCol w="1005840"/>
                <a:gridCol w="8229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Perfil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UF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Seguidores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Eng.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Posts c/ MOVE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@itsemilydiary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23,5k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15,75%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@mariaclarafaa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59k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1,54%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@juliajungerr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82,9k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1,60%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@lifewtsarah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10,5k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55,94%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@bguilobo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338,7k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3,52%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@buby_pinheiro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55,2k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2,59%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@helenamarquessb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BA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51k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2,75%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@natibrisolla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50,4k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4,24%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@bia.liraa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144k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4,63%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@renataporto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162k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1,53%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/>
          <p:cNvSpPr/>
          <p:nvPr/>
        </p:nvSpPr>
        <p:spPr>
          <a:xfrm>
            <a:off x="6217920" y="1554480"/>
            <a:ext cx="5349240" cy="438912"/>
          </a:xfrm>
          <a:prstGeom prst="roundRect">
            <a:avLst>
              <a:gd name="" fmla="val 25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 txBox="1"/>
          <p:nvPr/>
        </p:nvSpPr>
        <p:spPr>
          <a:xfrm>
            <a:off x="6400800" y="1554480"/>
            <a:ext cx="42062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Bebas Neue"/>
              </a:rPr>
              <a:t>PIQUENIQUE E VIAGEM</a:t>
            </a:r>
          </a:p>
        </p:txBody>
      </p:sp>
      <p:sp>
        <p:nvSpPr>
          <p:cNvPr id="14" name=""/>
          <p:cNvSpPr txBox="1"/>
          <p:nvPr/>
        </p:nvSpPr>
        <p:spPr>
          <a:xfrm>
            <a:off x="10195559" y="1554480"/>
            <a:ext cx="1234440" cy="43891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8 creators</a:t>
            </a:r>
          </a:p>
        </p:txBody>
      </p:sp>
      <p:sp>
        <p:nvSpPr>
          <p:cNvPr id="15" name=""/>
          <p:cNvSpPr txBox="1"/>
          <p:nvPr/>
        </p:nvSpPr>
        <p:spPr>
          <a:xfrm>
            <a:off x="6309359" y="2029968"/>
            <a:ext cx="5212080" cy="310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1010"/>
                </a:solidFill>
                <a:latin typeface="DM Sans"/>
              </a:rPr>
              <a:t>Por estado: </a:t>
            </a:r>
            <a:r>
              <a:rPr sz="1200" b="0">
                <a:solidFill>
                  <a:srgbClr val="8B1010"/>
                </a:solidFill>
                <a:latin typeface="DM Sans"/>
              </a:rPr>
              <a:t>SP 4  ·  RJ 2  ·  SC 1  ·  PR 1</a:t>
            </a:r>
          </a:p>
        </p:txBody>
      </p:sp>
      <p:graphicFrame>
        <p:nvGraphicFramePr>
          <p:cNvPr id="16" name=""/>
          <p:cNvGraphicFramePr>
            <a:graphicFrameLocks noGrp="1"/>
          </p:cNvGraphicFramePr>
          <p:nvPr/>
        </p:nvGraphicFramePr>
        <p:xfrm>
          <a:off x="6217920" y="2395728"/>
          <a:ext cx="5349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"/>
                <a:gridCol w="1005840"/>
                <a:gridCol w="82296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Perfil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UF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Seguidores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Eng.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DM Sans"/>
                        </a:rPr>
                        <a:t>Posts c/ MOVE</a:t>
                      </a:r>
                    </a:p>
                  </a:txBody>
                  <a:tcPr marT="9144" marB="9144">
                    <a:solidFill>
                      <a:srgbClr val="8B101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@gipelife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13,1k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31,09%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@braynersof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17,2k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15,88%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@barretovs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95,1k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1,89%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@bruna_maartiins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SC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47,8k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1,96%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@larissaluzc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179,9k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6,15%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@dinamichi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PR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367,9k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6,47%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@alarakaroline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SP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45,8k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3,65%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B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@isacadore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1010"/>
                          </a:solidFill>
                          <a:latin typeface="DM Sans"/>
                        </a:rPr>
                        <a:t>RJ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17,8k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4,71%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1010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4A4A"/>
                </a:solidFill>
                <a:latin typeface="DM Sans"/>
              </a:rPr>
              <a:t>Métricas da data do último mailing; atualizamos antes do contato. Estado pelo CEP de envio da base da MOVE.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Cinco caminhos para a caixa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8</a:t>
            </a:r>
          </a:p>
        </p:txBody>
      </p:sp>
      <p:sp>
        <p:nvSpPr>
          <p:cNvPr id="7" name="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"/>
          <p:cNvSpPr txBox="1"/>
          <p:nvPr/>
        </p:nvSpPr>
        <p:spPr>
          <a:xfrm>
            <a:off x="640080" y="1737360"/>
            <a:ext cx="731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01</a:t>
            </a:r>
          </a:p>
        </p:txBody>
      </p:sp>
      <p:sp>
        <p:nvSpPr>
          <p:cNvPr id="9" name=""/>
          <p:cNvSpPr txBox="1"/>
          <p:nvPr/>
        </p:nvSpPr>
        <p:spPr>
          <a:xfrm>
            <a:off x="1554480" y="169164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QUAL É O SEU LADO?</a:t>
            </a:r>
          </a:p>
        </p:txBody>
      </p:sp>
      <p:sp>
        <p:nvSpPr>
          <p:cNvPr id="10" name=""/>
          <p:cNvSpPr txBox="1"/>
          <p:nvPr/>
        </p:nvSpPr>
        <p:spPr>
          <a:xfrm>
            <a:off x="4572000" y="169164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4A4A"/>
                </a:solidFill>
                <a:latin typeface="DM Sans"/>
              </a:rPr>
              <a:t>Caixa que abre pelos dois lados, traduzindo o slogan “Two sides of taste”. De um lado os sabores suaves, do outro os ousados. A cartinha pergunta: “Você é do lado suave ou do lado ousado?”.</a:t>
            </a:r>
          </a:p>
        </p:txBody>
      </p:sp>
      <p:sp>
        <p:nvSpPr>
          <p:cNvPr id="11" name=""/>
          <p:cNvSpPr/>
          <p:nvPr/>
        </p:nvSpPr>
        <p:spPr>
          <a:xfrm>
            <a:off x="640080" y="2560320"/>
            <a:ext cx="731520" cy="731520"/>
          </a:xfrm>
          <a:prstGeom prst="ellipse">
            <a:avLst/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"/>
          <p:cNvSpPr txBox="1"/>
          <p:nvPr/>
        </p:nvSpPr>
        <p:spPr>
          <a:xfrm>
            <a:off x="640080" y="2606039"/>
            <a:ext cx="731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02</a:t>
            </a:r>
          </a:p>
        </p:txBody>
      </p:sp>
      <p:sp>
        <p:nvSpPr>
          <p:cNvPr id="13" name=""/>
          <p:cNvSpPr txBox="1"/>
          <p:nvPr/>
        </p:nvSpPr>
        <p:spPr>
          <a:xfrm>
            <a:off x="1554480" y="256032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TÁBUA PRONTA</a:t>
            </a:r>
          </a:p>
        </p:txBody>
      </p:sp>
      <p:sp>
        <p:nvSpPr>
          <p:cNvPr id="14" name=""/>
          <p:cNvSpPr txBox="1"/>
          <p:nvPr/>
        </p:nvSpPr>
        <p:spPr>
          <a:xfrm>
            <a:off x="4572000" y="256032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4A4A"/>
                </a:solidFill>
                <a:latin typeface="DM Sans"/>
              </a:rPr>
              <a:t>Tabuinha de bambu com os seis sabores e um cartão de harmonização: o queijo, a pastinha e o vinho que combinam com cada um. O creator monta a tábua no Reels.</a:t>
            </a:r>
          </a:p>
        </p:txBody>
      </p:sp>
      <p:sp>
        <p:nvSpPr>
          <p:cNvPr id="15" name=""/>
          <p:cNvSpPr/>
          <p:nvPr/>
        </p:nvSpPr>
        <p:spPr>
          <a:xfrm>
            <a:off x="640080" y="3429000"/>
            <a:ext cx="731520" cy="731520"/>
          </a:xfrm>
          <a:prstGeom prst="ellipse">
            <a:avLst/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 txBox="1"/>
          <p:nvPr/>
        </p:nvSpPr>
        <p:spPr>
          <a:xfrm>
            <a:off x="640080" y="3474720"/>
            <a:ext cx="731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03</a:t>
            </a:r>
          </a:p>
        </p:txBody>
      </p:sp>
      <p:sp>
        <p:nvSpPr>
          <p:cNvPr id="17" name=""/>
          <p:cNvSpPr txBox="1"/>
          <p:nvPr/>
        </p:nvSpPr>
        <p:spPr>
          <a:xfrm>
            <a:off x="1554480" y="342900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PIQUENIQUE AO PÔR DO SOL</a:t>
            </a:r>
          </a:p>
        </p:txBody>
      </p:sp>
      <p:sp>
        <p:nvSpPr>
          <p:cNvPr id="18" name=""/>
          <p:cNvSpPr txBox="1"/>
          <p:nvPr/>
        </p:nvSpPr>
        <p:spPr>
          <a:xfrm>
            <a:off x="4572000" y="342900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4A4A"/>
                </a:solidFill>
                <a:latin typeface="DM Sans"/>
              </a:rPr>
              <a:t>Sacola kraft com guardanapo xadrez e QR code para a playlist “Sunset Picnic Maretti”, no mesmo clima do conteúdo oficial da marca.</a:t>
            </a:r>
          </a:p>
        </p:txBody>
      </p:sp>
      <p:sp>
        <p:nvSpPr>
          <p:cNvPr id="19" name=""/>
          <p:cNvSpPr/>
          <p:nvPr/>
        </p:nvSpPr>
        <p:spPr>
          <a:xfrm>
            <a:off x="640080" y="4297679"/>
            <a:ext cx="731520" cy="731520"/>
          </a:xfrm>
          <a:prstGeom prst="ellipse">
            <a:avLst/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"/>
          <p:cNvSpPr txBox="1"/>
          <p:nvPr/>
        </p:nvSpPr>
        <p:spPr>
          <a:xfrm>
            <a:off x="640080" y="4343399"/>
            <a:ext cx="731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04</a:t>
            </a:r>
          </a:p>
        </p:txBody>
      </p:sp>
      <p:sp>
        <p:nvSpPr>
          <p:cNvPr id="21" name=""/>
          <p:cNvSpPr txBox="1"/>
          <p:nvPr/>
        </p:nvSpPr>
        <p:spPr>
          <a:xfrm>
            <a:off x="1554480" y="4297679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TESTE ÀS CEGAS</a:t>
            </a:r>
          </a:p>
        </p:txBody>
      </p:sp>
      <p:sp>
        <p:nvSpPr>
          <p:cNvPr id="22" name=""/>
          <p:cNvSpPr txBox="1"/>
          <p:nvPr/>
        </p:nvSpPr>
        <p:spPr>
          <a:xfrm>
            <a:off x="4572000" y="4297679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4A4A"/>
                </a:solidFill>
                <a:latin typeface="DM Sans"/>
              </a:rPr>
              <a:t>Seis envelopes numerados, sem revelar o sabor, com gabarito lacrado. O desafio: acertar os seis sabores e contar nos stories.</a:t>
            </a:r>
          </a:p>
        </p:txBody>
      </p:sp>
      <p:sp>
        <p:nvSpPr>
          <p:cNvPr id="23" name="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"/>
          <p:cNvSpPr txBox="1"/>
          <p:nvPr/>
        </p:nvSpPr>
        <p:spPr>
          <a:xfrm>
            <a:off x="640080" y="5212080"/>
            <a:ext cx="73152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05</a:t>
            </a:r>
          </a:p>
        </p:txBody>
      </p:sp>
      <p:sp>
        <p:nvSpPr>
          <p:cNvPr id="25" name=""/>
          <p:cNvSpPr txBox="1"/>
          <p:nvPr/>
        </p:nvSpPr>
        <p:spPr>
          <a:xfrm>
            <a:off x="1554480" y="5166360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DIRETO DA PADARIA</a:t>
            </a:r>
          </a:p>
        </p:txBody>
      </p:sp>
      <p:sp>
        <p:nvSpPr>
          <p:cNvPr id="26" name=""/>
          <p:cNvSpPr txBox="1"/>
          <p:nvPr/>
        </p:nvSpPr>
        <p:spPr>
          <a:xfrm>
            <a:off x="4572000" y="516636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4A4A"/>
                </a:solidFill>
                <a:latin typeface="DM Sans"/>
              </a:rPr>
              <a:t>Embalagem de saco de padaria com carimbo “Maretti Bakery” e etiqueta escrita à mão, reforçando o pão de verdade feito de forma artesanal.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 01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Qual é o seu lado?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9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1010"/>
                </a:solidFill>
                <a:latin typeface="DM Sans"/>
              </a:rPr>
              <a:t>Caixa que abre pelos dois lados, traduzindo o slogan “Two sides of taste”. De um lado os sabores suaves, do outro os ousados. A cartinha pergunta: “Você é do lado suave ou do lado ousado?”.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3520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5A1B"/>
                </a:solidFill>
                <a:latin typeface="Bebas Neue"/>
              </a:rPr>
              <a:t>NA CAIXA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88620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Lado suave: cogumelos e creme, creme azedo e cebola, vegetais mediterrâneos. Lado ousado: salame pepperoni, alho tostado, tomate, azeitona e orégano.</a:t>
            </a:r>
          </a:p>
        </p:txBody>
      </p:sp>
      <p:sp>
        <p:nvSpPr>
          <p:cNvPr id="10" name=""/>
          <p:cNvSpPr/>
          <p:nvPr/>
        </p:nvSpPr>
        <p:spPr>
          <a:xfrm>
            <a:off x="640080" y="5349240"/>
            <a:ext cx="5394960" cy="502920"/>
          </a:xfrm>
          <a:prstGeom prst="roundRect">
            <a:avLst>
              <a:gd name="" fmla="val 50000"/>
            </a:avLst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822960" y="5376672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Cabe na base de R$ 100 por kit · Recomendado</a:t>
            </a:r>
          </a:p>
        </p:txBody>
      </p:sp>
      <p:sp>
        <p:nvSpPr>
          <p:cNvPr id="12" name="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" fmla="val 5000"/>
            </a:avLst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/>
          <p:nvPr/>
        </p:nvSpPr>
        <p:spPr>
          <a:xfrm>
            <a:off x="6629400" y="2286000"/>
            <a:ext cx="1051560" cy="2286000"/>
          </a:xfrm>
          <a:prstGeom prst="parallelogram">
            <a:avLst/>
          </a:prstGeom>
          <a:solidFill>
            <a:srgbClr val="EC952E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 txBox="1"/>
          <p:nvPr/>
        </p:nvSpPr>
        <p:spPr>
          <a:xfrm>
            <a:off x="6629400" y="3063240"/>
            <a:ext cx="1051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8B1010"/>
                </a:solidFill>
                <a:latin typeface="Bebas Neue"/>
              </a:rPr>
              <a:t>LADO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8B1010"/>
                </a:solidFill>
                <a:latin typeface="Bebas Neue"/>
              </a:rPr>
              <a:t>SUAVE</a:t>
            </a:r>
          </a:p>
        </p:txBody>
      </p:sp>
      <p:sp>
        <p:nvSpPr>
          <p:cNvPr id="15" name=""/>
          <p:cNvSpPr/>
          <p:nvPr/>
        </p:nvSpPr>
        <p:spPr>
          <a:xfrm>
            <a:off x="10332720" y="2286000"/>
            <a:ext cx="1051560" cy="2286000"/>
          </a:xfrm>
          <a:prstGeom prst="parallelogram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 txBox="1"/>
          <p:nvPr/>
        </p:nvSpPr>
        <p:spPr>
          <a:xfrm>
            <a:off x="10332720" y="3063240"/>
            <a:ext cx="1051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Bebas Neue"/>
              </a:rPr>
              <a:t>LADO</a:t>
            </a:r>
          </a:p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Bebas Neue"/>
              </a:rPr>
              <a:t>OUSADO</a:t>
            </a:r>
          </a:p>
        </p:txBody>
      </p:sp>
      <p:sp>
        <p:nvSpPr>
          <p:cNvPr id="17" name=""/>
          <p:cNvSpPr/>
          <p:nvPr/>
        </p:nvSpPr>
        <p:spPr>
          <a:xfrm>
            <a:off x="7635240" y="2194560"/>
            <a:ext cx="27432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"/>
          <p:cNvSpPr/>
          <p:nvPr/>
        </p:nvSpPr>
        <p:spPr>
          <a:xfrm>
            <a:off x="7680960" y="2240280"/>
            <a:ext cx="1325880" cy="2377440"/>
          </a:xfrm>
          <a:prstGeom prst="rect">
            <a:avLst/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/>
          <p:nvPr/>
        </p:nvSpPr>
        <p:spPr>
          <a:xfrm>
            <a:off x="9006840" y="2240280"/>
            <a:ext cx="1325880" cy="2377440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"/>
          <p:cNvSpPr/>
          <p:nvPr/>
        </p:nvSpPr>
        <p:spPr>
          <a:xfrm>
            <a:off x="8988552" y="2194560"/>
            <a:ext cx="36576" cy="2468880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/>
          <p:nvPr/>
        </p:nvSpPr>
        <p:spPr>
          <a:xfrm>
            <a:off x="7772400" y="2377440"/>
            <a:ext cx="457200" cy="713232"/>
          </a:xfrm>
          <a:prstGeom prst="roundRect">
            <a:avLst>
              <a:gd name="" fmla="val 12000"/>
            </a:avLst>
          </a:prstGeom>
          <a:solidFill>
            <a:srgbClr val="A07A4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/>
          <p:nvPr/>
        </p:nvSpPr>
        <p:spPr>
          <a:xfrm>
            <a:off x="7772400" y="237744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"/>
          <p:cNvSpPr/>
          <p:nvPr/>
        </p:nvSpPr>
        <p:spPr>
          <a:xfrm>
            <a:off x="7827264" y="263420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"/>
          <p:cNvSpPr/>
          <p:nvPr/>
        </p:nvSpPr>
        <p:spPr>
          <a:xfrm>
            <a:off x="786384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/>
          <p:nvPr/>
        </p:nvSpPr>
        <p:spPr>
          <a:xfrm>
            <a:off x="7955279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"/>
          <p:cNvSpPr/>
          <p:nvPr/>
        </p:nvSpPr>
        <p:spPr>
          <a:xfrm>
            <a:off x="804672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"/>
          <p:cNvSpPr/>
          <p:nvPr/>
        </p:nvSpPr>
        <p:spPr>
          <a:xfrm>
            <a:off x="8366760" y="2377440"/>
            <a:ext cx="457200" cy="713232"/>
          </a:xfrm>
          <a:prstGeom prst="roundRect">
            <a:avLst>
              <a:gd name="" fmla="val 12000"/>
            </a:avLst>
          </a:prstGeom>
          <a:solidFill>
            <a:srgbClr val="6D870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/>
          <p:nvPr/>
        </p:nvSpPr>
        <p:spPr>
          <a:xfrm>
            <a:off x="8366760" y="237744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"/>
          <p:cNvSpPr/>
          <p:nvPr/>
        </p:nvSpPr>
        <p:spPr>
          <a:xfrm>
            <a:off x="8421624" y="263420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"/>
          <p:cNvSpPr/>
          <p:nvPr/>
        </p:nvSpPr>
        <p:spPr>
          <a:xfrm>
            <a:off x="845820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/>
          <p:nvPr/>
        </p:nvSpPr>
        <p:spPr>
          <a:xfrm>
            <a:off x="854964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"/>
          <p:cNvSpPr/>
          <p:nvPr/>
        </p:nvSpPr>
        <p:spPr>
          <a:xfrm>
            <a:off x="864108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"/>
          <p:cNvSpPr/>
          <p:nvPr/>
        </p:nvSpPr>
        <p:spPr>
          <a:xfrm>
            <a:off x="7772400" y="3429000"/>
            <a:ext cx="457200" cy="713232"/>
          </a:xfrm>
          <a:prstGeom prst="roundRect">
            <a:avLst>
              <a:gd name="" fmla="val 12000"/>
            </a:avLst>
          </a:prstGeom>
          <a:solidFill>
            <a:srgbClr val="F25A1B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"/>
          <p:cNvSpPr/>
          <p:nvPr/>
        </p:nvSpPr>
        <p:spPr>
          <a:xfrm>
            <a:off x="7772400" y="34290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"/>
          <p:cNvSpPr/>
          <p:nvPr/>
        </p:nvSpPr>
        <p:spPr>
          <a:xfrm>
            <a:off x="7827264" y="36857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"/>
          <p:cNvSpPr/>
          <p:nvPr/>
        </p:nvSpPr>
        <p:spPr>
          <a:xfrm>
            <a:off x="7863840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"/>
          <p:cNvSpPr/>
          <p:nvPr/>
        </p:nvSpPr>
        <p:spPr>
          <a:xfrm>
            <a:off x="7955279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"/>
          <p:cNvSpPr/>
          <p:nvPr/>
        </p:nvSpPr>
        <p:spPr>
          <a:xfrm>
            <a:off x="8046720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"/>
          <p:cNvSpPr/>
          <p:nvPr/>
        </p:nvSpPr>
        <p:spPr>
          <a:xfrm>
            <a:off x="9144000" y="2377440"/>
            <a:ext cx="457200" cy="713232"/>
          </a:xfrm>
          <a:prstGeom prst="roundRect">
            <a:avLst>
              <a:gd name="" fmla="val 12000"/>
            </a:avLst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"/>
          <p:cNvSpPr/>
          <p:nvPr/>
        </p:nvSpPr>
        <p:spPr>
          <a:xfrm>
            <a:off x="9144000" y="237744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"/>
          <p:cNvSpPr/>
          <p:nvPr/>
        </p:nvSpPr>
        <p:spPr>
          <a:xfrm>
            <a:off x="9198864" y="263420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"/>
          <p:cNvSpPr/>
          <p:nvPr/>
        </p:nvSpPr>
        <p:spPr>
          <a:xfrm>
            <a:off x="923544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"/>
          <p:cNvSpPr/>
          <p:nvPr/>
        </p:nvSpPr>
        <p:spPr>
          <a:xfrm>
            <a:off x="932688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"/>
          <p:cNvSpPr/>
          <p:nvPr/>
        </p:nvSpPr>
        <p:spPr>
          <a:xfrm>
            <a:off x="941832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"/>
          <p:cNvSpPr/>
          <p:nvPr/>
        </p:nvSpPr>
        <p:spPr>
          <a:xfrm>
            <a:off x="9738360" y="2377440"/>
            <a:ext cx="457200" cy="713232"/>
          </a:xfrm>
          <a:prstGeom prst="roundRect">
            <a:avLst>
              <a:gd name="" fmla="val 12000"/>
            </a:avLst>
          </a:prstGeom>
          <a:solidFill>
            <a:srgbClr val="EC952E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"/>
          <p:cNvSpPr/>
          <p:nvPr/>
        </p:nvSpPr>
        <p:spPr>
          <a:xfrm>
            <a:off x="9738360" y="237744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"/>
          <p:cNvSpPr/>
          <p:nvPr/>
        </p:nvSpPr>
        <p:spPr>
          <a:xfrm>
            <a:off x="9793224" y="263420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"/>
          <p:cNvSpPr/>
          <p:nvPr/>
        </p:nvSpPr>
        <p:spPr>
          <a:xfrm>
            <a:off x="982980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"/>
          <p:cNvSpPr/>
          <p:nvPr/>
        </p:nvSpPr>
        <p:spPr>
          <a:xfrm>
            <a:off x="992124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"/>
          <p:cNvSpPr/>
          <p:nvPr/>
        </p:nvSpPr>
        <p:spPr>
          <a:xfrm>
            <a:off x="10012680" y="269839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"/>
          <p:cNvSpPr/>
          <p:nvPr/>
        </p:nvSpPr>
        <p:spPr>
          <a:xfrm>
            <a:off x="9144000" y="3429000"/>
            <a:ext cx="457200" cy="713232"/>
          </a:xfrm>
          <a:prstGeom prst="roundRect">
            <a:avLst>
              <a:gd name="" fmla="val 12000"/>
            </a:avLst>
          </a:prstGeom>
          <a:solidFill>
            <a:srgbClr val="8B1010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"/>
          <p:cNvSpPr/>
          <p:nvPr/>
        </p:nvSpPr>
        <p:spPr>
          <a:xfrm>
            <a:off x="9144000" y="34290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"/>
          <p:cNvSpPr/>
          <p:nvPr/>
        </p:nvSpPr>
        <p:spPr>
          <a:xfrm>
            <a:off x="9198864" y="36857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"/>
          <p:cNvSpPr/>
          <p:nvPr/>
        </p:nvSpPr>
        <p:spPr>
          <a:xfrm>
            <a:off x="9235440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"/>
          <p:cNvSpPr/>
          <p:nvPr/>
        </p:nvSpPr>
        <p:spPr>
          <a:xfrm>
            <a:off x="9326880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"/>
          <p:cNvSpPr/>
          <p:nvPr/>
        </p:nvSpPr>
        <p:spPr>
          <a:xfrm>
            <a:off x="9418320" y="37499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"/>
          <p:cNvSpPr/>
          <p:nvPr/>
        </p:nvSpPr>
        <p:spPr>
          <a:xfrm rot="21360000">
            <a:off x="8092440" y="4343400"/>
            <a:ext cx="1828800" cy="685800"/>
          </a:xfrm>
          <a:prstGeom prst="roundRect">
            <a:avLst>
              <a:gd name="" fmla="val 10000"/>
            </a:avLst>
          </a:prstGeom>
          <a:solidFill>
            <a:srgbClr val="FFFFFF"/>
          </a:solidFill>
          <a:ln w="25400">
            <a:solidFill>
              <a:srgbClr val="C017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"/>
          <p:cNvSpPr txBox="1"/>
          <p:nvPr/>
        </p:nvSpPr>
        <p:spPr>
          <a:xfrm rot="21360000">
            <a:off x="8092440" y="4370831"/>
            <a:ext cx="18288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01718"/>
                </a:solidFill>
                <a:latin typeface="DM Sans"/>
              </a:rPr>
              <a:t>Você é do lado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C01718"/>
                </a:solidFill>
                <a:latin typeface="DM Sans"/>
              </a:rPr>
              <a:t>suave ou ousado?</a:t>
            </a:r>
          </a:p>
        </p:txBody>
      </p:sp>
      <p:sp>
        <p:nvSpPr>
          <p:cNvPr id="59" name=""/>
          <p:cNvSpPr/>
          <p:nvPr/>
        </p:nvSpPr>
        <p:spPr>
          <a:xfrm>
            <a:off x="658368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"/>
          <p:cNvSpPr txBox="1"/>
          <p:nvPr/>
        </p:nvSpPr>
        <p:spPr>
          <a:xfrm>
            <a:off x="658368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1</a:t>
            </a:r>
          </a:p>
        </p:txBody>
      </p:sp>
      <p:sp>
        <p:nvSpPr>
          <p:cNvPr id="61" name=""/>
          <p:cNvSpPr txBox="1"/>
          <p:nvPr/>
        </p:nvSpPr>
        <p:spPr>
          <a:xfrm>
            <a:off x="68854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3 sabores suaves</a:t>
            </a:r>
          </a:p>
        </p:txBody>
      </p:sp>
      <p:sp>
        <p:nvSpPr>
          <p:cNvPr id="62" name=""/>
          <p:cNvSpPr/>
          <p:nvPr/>
        </p:nvSpPr>
        <p:spPr>
          <a:xfrm>
            <a:off x="827532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"/>
          <p:cNvSpPr txBox="1"/>
          <p:nvPr/>
        </p:nvSpPr>
        <p:spPr>
          <a:xfrm>
            <a:off x="827532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2</a:t>
            </a:r>
          </a:p>
        </p:txBody>
      </p:sp>
      <p:sp>
        <p:nvSpPr>
          <p:cNvPr id="64" name=""/>
          <p:cNvSpPr txBox="1"/>
          <p:nvPr/>
        </p:nvSpPr>
        <p:spPr>
          <a:xfrm>
            <a:off x="857707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cartinha enquete</a:t>
            </a:r>
          </a:p>
        </p:txBody>
      </p:sp>
      <p:sp>
        <p:nvSpPr>
          <p:cNvPr id="65" name=""/>
          <p:cNvSpPr/>
          <p:nvPr/>
        </p:nvSpPr>
        <p:spPr>
          <a:xfrm>
            <a:off x="996696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"/>
          <p:cNvSpPr txBox="1"/>
          <p:nvPr/>
        </p:nvSpPr>
        <p:spPr>
          <a:xfrm>
            <a:off x="996696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3</a:t>
            </a:r>
          </a:p>
        </p:txBody>
      </p:sp>
      <p:sp>
        <p:nvSpPr>
          <p:cNvPr id="67" name=""/>
          <p:cNvSpPr txBox="1"/>
          <p:nvPr/>
        </p:nvSpPr>
        <p:spPr>
          <a:xfrm>
            <a:off x="1026871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3 sabores ousados</a:t>
            </a:r>
          </a:p>
        </p:txBody>
      </p:sp>
      <p:sp>
        <p:nvSpPr>
          <p:cNvPr id="68" name="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Desenho ilustrativo; medidas validadas com uma amostra do pacote.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 02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Tábua pronta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10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1010"/>
                </a:solidFill>
                <a:latin typeface="DM Sans"/>
              </a:rPr>
              <a:t>Tabuinha de bambu com os seis sabores e um cartão de harmonização: o queijo, a pastinha e o vinho que combinam com cada um. O creator monta a tábua no Reels.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3520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5A1B"/>
                </a:solidFill>
                <a:latin typeface="Bebas Neue"/>
              </a:rPr>
              <a:t>NA CAIXA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88620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Tabuinha (cerca de 30 × 20 cm) · 6 sabores · cartão de harmonização · cartinha com QR code.</a:t>
            </a:r>
          </a:p>
        </p:txBody>
      </p:sp>
      <p:sp>
        <p:nvSpPr>
          <p:cNvPr id="10" name=""/>
          <p:cNvSpPr/>
          <p:nvPr/>
        </p:nvSpPr>
        <p:spPr>
          <a:xfrm>
            <a:off x="640080" y="5349240"/>
            <a:ext cx="5394960" cy="502920"/>
          </a:xfrm>
          <a:prstGeom prst="roundRect">
            <a:avLst>
              <a:gd name="" fmla="val 5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822960" y="5376672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Tábua soma cerca de R$ 20 a R$ 35 · a cotar</a:t>
            </a:r>
          </a:p>
        </p:txBody>
      </p:sp>
      <p:sp>
        <p:nvSpPr>
          <p:cNvPr id="12" name="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" fmla="val 5000"/>
            </a:avLst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/>
          <p:nvPr/>
        </p:nvSpPr>
        <p:spPr>
          <a:xfrm>
            <a:off x="6812280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A07A4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/>
          <p:nvPr/>
        </p:nvSpPr>
        <p:spPr>
          <a:xfrm>
            <a:off x="6812280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"/>
          <p:cNvSpPr/>
          <p:nvPr/>
        </p:nvSpPr>
        <p:spPr>
          <a:xfrm>
            <a:off x="6867144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/>
          <p:nvPr/>
        </p:nvSpPr>
        <p:spPr>
          <a:xfrm>
            <a:off x="690372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"/>
          <p:cNvSpPr/>
          <p:nvPr/>
        </p:nvSpPr>
        <p:spPr>
          <a:xfrm>
            <a:off x="699516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"/>
          <p:cNvSpPr/>
          <p:nvPr/>
        </p:nvSpPr>
        <p:spPr>
          <a:xfrm>
            <a:off x="708660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/>
          <p:nvPr/>
        </p:nvSpPr>
        <p:spPr>
          <a:xfrm>
            <a:off x="7562088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6D870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"/>
          <p:cNvSpPr/>
          <p:nvPr/>
        </p:nvSpPr>
        <p:spPr>
          <a:xfrm>
            <a:off x="7562088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/>
          <p:nvPr/>
        </p:nvSpPr>
        <p:spPr>
          <a:xfrm>
            <a:off x="7616952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/>
          <p:nvPr/>
        </p:nvSpPr>
        <p:spPr>
          <a:xfrm>
            <a:off x="7653527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"/>
          <p:cNvSpPr/>
          <p:nvPr/>
        </p:nvSpPr>
        <p:spPr>
          <a:xfrm>
            <a:off x="7744967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"/>
          <p:cNvSpPr/>
          <p:nvPr/>
        </p:nvSpPr>
        <p:spPr>
          <a:xfrm>
            <a:off x="7836408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/>
          <p:nvPr/>
        </p:nvSpPr>
        <p:spPr>
          <a:xfrm>
            <a:off x="8311896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F25A1B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"/>
          <p:cNvSpPr/>
          <p:nvPr/>
        </p:nvSpPr>
        <p:spPr>
          <a:xfrm>
            <a:off x="8311896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"/>
          <p:cNvSpPr/>
          <p:nvPr/>
        </p:nvSpPr>
        <p:spPr>
          <a:xfrm>
            <a:off x="8366760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/>
          <p:nvPr/>
        </p:nvSpPr>
        <p:spPr>
          <a:xfrm>
            <a:off x="8403336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"/>
          <p:cNvSpPr/>
          <p:nvPr/>
        </p:nvSpPr>
        <p:spPr>
          <a:xfrm>
            <a:off x="8494776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"/>
          <p:cNvSpPr/>
          <p:nvPr/>
        </p:nvSpPr>
        <p:spPr>
          <a:xfrm>
            <a:off x="8586216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/>
          <p:nvPr/>
        </p:nvSpPr>
        <p:spPr>
          <a:xfrm>
            <a:off x="9061704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"/>
          <p:cNvSpPr/>
          <p:nvPr/>
        </p:nvSpPr>
        <p:spPr>
          <a:xfrm>
            <a:off x="9061704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"/>
          <p:cNvSpPr/>
          <p:nvPr/>
        </p:nvSpPr>
        <p:spPr>
          <a:xfrm>
            <a:off x="9116568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"/>
          <p:cNvSpPr/>
          <p:nvPr/>
        </p:nvSpPr>
        <p:spPr>
          <a:xfrm>
            <a:off x="9153144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"/>
          <p:cNvSpPr/>
          <p:nvPr/>
        </p:nvSpPr>
        <p:spPr>
          <a:xfrm>
            <a:off x="9244584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"/>
          <p:cNvSpPr/>
          <p:nvPr/>
        </p:nvSpPr>
        <p:spPr>
          <a:xfrm>
            <a:off x="9336024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"/>
          <p:cNvSpPr/>
          <p:nvPr/>
        </p:nvSpPr>
        <p:spPr>
          <a:xfrm>
            <a:off x="9811512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EC952E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"/>
          <p:cNvSpPr/>
          <p:nvPr/>
        </p:nvSpPr>
        <p:spPr>
          <a:xfrm>
            <a:off x="9811512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"/>
          <p:cNvSpPr/>
          <p:nvPr/>
        </p:nvSpPr>
        <p:spPr>
          <a:xfrm>
            <a:off x="9866376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"/>
          <p:cNvSpPr/>
          <p:nvPr/>
        </p:nvSpPr>
        <p:spPr>
          <a:xfrm>
            <a:off x="9902952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"/>
          <p:cNvSpPr/>
          <p:nvPr/>
        </p:nvSpPr>
        <p:spPr>
          <a:xfrm>
            <a:off x="9994392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"/>
          <p:cNvSpPr/>
          <p:nvPr/>
        </p:nvSpPr>
        <p:spPr>
          <a:xfrm>
            <a:off x="10085832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"/>
          <p:cNvSpPr/>
          <p:nvPr/>
        </p:nvSpPr>
        <p:spPr>
          <a:xfrm>
            <a:off x="10561320" y="1828800"/>
            <a:ext cx="457200" cy="713232"/>
          </a:xfrm>
          <a:prstGeom prst="roundRect">
            <a:avLst>
              <a:gd name="" fmla="val 12000"/>
            </a:avLst>
          </a:prstGeom>
          <a:solidFill>
            <a:srgbClr val="8B1010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"/>
          <p:cNvSpPr/>
          <p:nvPr/>
        </p:nvSpPr>
        <p:spPr>
          <a:xfrm>
            <a:off x="10561320" y="1828800"/>
            <a:ext cx="457200" cy="114117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"/>
          <p:cNvSpPr/>
          <p:nvPr/>
        </p:nvSpPr>
        <p:spPr>
          <a:xfrm>
            <a:off x="10616184" y="2085563"/>
            <a:ext cx="347472" cy="2567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"/>
          <p:cNvSpPr/>
          <p:nvPr/>
        </p:nvSpPr>
        <p:spPr>
          <a:xfrm>
            <a:off x="1065276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"/>
          <p:cNvSpPr/>
          <p:nvPr/>
        </p:nvSpPr>
        <p:spPr>
          <a:xfrm>
            <a:off x="1074420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"/>
          <p:cNvSpPr/>
          <p:nvPr/>
        </p:nvSpPr>
        <p:spPr>
          <a:xfrm>
            <a:off x="10835640" y="2149754"/>
            <a:ext cx="91440" cy="128381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"/>
          <p:cNvSpPr/>
          <p:nvPr/>
        </p:nvSpPr>
        <p:spPr>
          <a:xfrm>
            <a:off x="6629400" y="2834640"/>
            <a:ext cx="4206240" cy="2057400"/>
          </a:xfrm>
          <a:prstGeom prst="roundRect">
            <a:avLst>
              <a:gd name="" fmla="val 12000"/>
            </a:avLst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"/>
          <p:cNvSpPr/>
          <p:nvPr/>
        </p:nvSpPr>
        <p:spPr>
          <a:xfrm>
            <a:off x="10744200" y="3566160"/>
            <a:ext cx="640080" cy="594360"/>
          </a:xfrm>
          <a:prstGeom prst="roundRect">
            <a:avLst>
              <a:gd name="" fmla="val 40000"/>
            </a:avLst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"/>
          <p:cNvSpPr/>
          <p:nvPr/>
        </p:nvSpPr>
        <p:spPr>
          <a:xfrm>
            <a:off x="10972800" y="3730752"/>
            <a:ext cx="228600" cy="228600"/>
          </a:xfrm>
          <a:prstGeom prst="ellipse">
            <a:avLst/>
          </a:prstGeom>
          <a:solidFill>
            <a:srgbClr val="FBF3E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"/>
          <p:cNvSpPr/>
          <p:nvPr/>
        </p:nvSpPr>
        <p:spPr>
          <a:xfrm>
            <a:off x="6858000" y="301752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"/>
          <p:cNvSpPr/>
          <p:nvPr/>
        </p:nvSpPr>
        <p:spPr>
          <a:xfrm>
            <a:off x="7315200" y="301752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"/>
          <p:cNvSpPr/>
          <p:nvPr/>
        </p:nvSpPr>
        <p:spPr>
          <a:xfrm>
            <a:off x="7772400" y="301752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"/>
          <p:cNvSpPr/>
          <p:nvPr/>
        </p:nvSpPr>
        <p:spPr>
          <a:xfrm>
            <a:off x="8229600" y="301752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"/>
          <p:cNvSpPr/>
          <p:nvPr/>
        </p:nvSpPr>
        <p:spPr>
          <a:xfrm>
            <a:off x="6858000" y="342900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"/>
          <p:cNvSpPr/>
          <p:nvPr/>
        </p:nvSpPr>
        <p:spPr>
          <a:xfrm>
            <a:off x="7315200" y="342900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"/>
          <p:cNvSpPr/>
          <p:nvPr/>
        </p:nvSpPr>
        <p:spPr>
          <a:xfrm>
            <a:off x="7772400" y="342900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"/>
          <p:cNvSpPr/>
          <p:nvPr/>
        </p:nvSpPr>
        <p:spPr>
          <a:xfrm>
            <a:off x="8229600" y="3429000"/>
            <a:ext cx="384048" cy="27432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"/>
          <p:cNvSpPr/>
          <p:nvPr/>
        </p:nvSpPr>
        <p:spPr>
          <a:xfrm>
            <a:off x="6858000" y="3931920"/>
            <a:ext cx="1005840" cy="777240"/>
          </a:xfrm>
          <a:prstGeom prst="rtTriangle">
            <a:avLst/>
          </a:prstGeom>
          <a:solidFill>
            <a:srgbClr val="EC952E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"/>
          <p:cNvSpPr/>
          <p:nvPr/>
        </p:nvSpPr>
        <p:spPr>
          <a:xfrm>
            <a:off x="8138160" y="393192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"/>
          <p:cNvSpPr/>
          <p:nvPr/>
        </p:nvSpPr>
        <p:spPr>
          <a:xfrm>
            <a:off x="8247888" y="4041648"/>
            <a:ext cx="557784" cy="557784"/>
          </a:xfrm>
          <a:prstGeom prst="ellipse">
            <a:avLst/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"/>
          <p:cNvSpPr/>
          <p:nvPr/>
        </p:nvSpPr>
        <p:spPr>
          <a:xfrm>
            <a:off x="9098280" y="3063240"/>
            <a:ext cx="219456" cy="219456"/>
          </a:xfrm>
          <a:prstGeom prst="ellipse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"/>
          <p:cNvSpPr/>
          <p:nvPr/>
        </p:nvSpPr>
        <p:spPr>
          <a:xfrm>
            <a:off x="9390888" y="3063240"/>
            <a:ext cx="219456" cy="219456"/>
          </a:xfrm>
          <a:prstGeom prst="ellipse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"/>
          <p:cNvSpPr/>
          <p:nvPr/>
        </p:nvSpPr>
        <p:spPr>
          <a:xfrm>
            <a:off x="9683496" y="3063240"/>
            <a:ext cx="219456" cy="219456"/>
          </a:xfrm>
          <a:prstGeom prst="ellipse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"/>
          <p:cNvSpPr/>
          <p:nvPr/>
        </p:nvSpPr>
        <p:spPr>
          <a:xfrm>
            <a:off x="9098280" y="3355848"/>
            <a:ext cx="219456" cy="219456"/>
          </a:xfrm>
          <a:prstGeom prst="ellipse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"/>
          <p:cNvSpPr/>
          <p:nvPr/>
        </p:nvSpPr>
        <p:spPr>
          <a:xfrm>
            <a:off x="9390888" y="3355848"/>
            <a:ext cx="219456" cy="219456"/>
          </a:xfrm>
          <a:prstGeom prst="ellipse">
            <a:avLst/>
          </a:prstGeom>
          <a:solidFill>
            <a:srgbClr val="C01718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"/>
          <p:cNvSpPr/>
          <p:nvPr/>
        </p:nvSpPr>
        <p:spPr>
          <a:xfrm>
            <a:off x="9098280" y="3840480"/>
            <a:ext cx="1463040" cy="868680"/>
          </a:xfrm>
          <a:prstGeom prst="roundRect">
            <a:avLst>
              <a:gd name="" fmla="val 8000"/>
            </a:avLst>
          </a:prstGeom>
          <a:solidFill>
            <a:srgbClr val="FFFFFF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"/>
          <p:cNvSpPr txBox="1"/>
          <p:nvPr/>
        </p:nvSpPr>
        <p:spPr>
          <a:xfrm>
            <a:off x="9098280" y="3886200"/>
            <a:ext cx="14630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B1010"/>
                </a:solidFill>
                <a:latin typeface="DM Sans"/>
              </a:rPr>
              <a:t>HARMONIZE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B1010"/>
                </a:solidFill>
                <a:latin typeface="DM Sans"/>
              </a:rPr>
              <a:t>queijo · pastinha · vinho</a:t>
            </a:r>
          </a:p>
        </p:txBody>
      </p:sp>
      <p:sp>
        <p:nvSpPr>
          <p:cNvPr id="70" name=""/>
          <p:cNvSpPr/>
          <p:nvPr/>
        </p:nvSpPr>
        <p:spPr>
          <a:xfrm>
            <a:off x="658368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"/>
          <p:cNvSpPr txBox="1"/>
          <p:nvPr/>
        </p:nvSpPr>
        <p:spPr>
          <a:xfrm>
            <a:off x="658368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1</a:t>
            </a:r>
          </a:p>
        </p:txBody>
      </p:sp>
      <p:sp>
        <p:nvSpPr>
          <p:cNvPr id="72" name=""/>
          <p:cNvSpPr txBox="1"/>
          <p:nvPr/>
        </p:nvSpPr>
        <p:spPr>
          <a:xfrm>
            <a:off x="68854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6 sabores</a:t>
            </a:r>
          </a:p>
        </p:txBody>
      </p:sp>
      <p:sp>
        <p:nvSpPr>
          <p:cNvPr id="73" name=""/>
          <p:cNvSpPr/>
          <p:nvPr/>
        </p:nvSpPr>
        <p:spPr>
          <a:xfrm>
            <a:off x="8183879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"/>
          <p:cNvSpPr txBox="1"/>
          <p:nvPr/>
        </p:nvSpPr>
        <p:spPr>
          <a:xfrm>
            <a:off x="8183879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2</a:t>
            </a:r>
          </a:p>
        </p:txBody>
      </p:sp>
      <p:sp>
        <p:nvSpPr>
          <p:cNvPr id="75" name=""/>
          <p:cNvSpPr txBox="1"/>
          <p:nvPr/>
        </p:nvSpPr>
        <p:spPr>
          <a:xfrm>
            <a:off x="84856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tábua de bambu</a:t>
            </a:r>
          </a:p>
        </p:txBody>
      </p:sp>
      <p:sp>
        <p:nvSpPr>
          <p:cNvPr id="76" name=""/>
          <p:cNvSpPr/>
          <p:nvPr/>
        </p:nvSpPr>
        <p:spPr>
          <a:xfrm>
            <a:off x="992124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"/>
          <p:cNvSpPr txBox="1"/>
          <p:nvPr/>
        </p:nvSpPr>
        <p:spPr>
          <a:xfrm>
            <a:off x="992124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3</a:t>
            </a:r>
          </a:p>
        </p:txBody>
      </p:sp>
      <p:sp>
        <p:nvSpPr>
          <p:cNvPr id="78" name=""/>
          <p:cNvSpPr txBox="1"/>
          <p:nvPr/>
        </p:nvSpPr>
        <p:spPr>
          <a:xfrm>
            <a:off x="1022299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harmonização</a:t>
            </a:r>
          </a:p>
        </p:txBody>
      </p:sp>
      <p:sp>
        <p:nvSpPr>
          <p:cNvPr id="79" name="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Desenho ilustrativo; medidas validadas com uma amostra do pacote.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 03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Piquenique ao pôr do sol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11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1010"/>
                </a:solidFill>
                <a:latin typeface="DM Sans"/>
              </a:rPr>
              <a:t>Sacola kraft com guardanapo xadrez e QR code para a playlist “Sunset Picnic Maretti”, no mesmo clima do conteúdo oficial da marca.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3520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5A1B"/>
                </a:solidFill>
                <a:latin typeface="Bebas Neue"/>
              </a:rPr>
              <a:t>NA CAIXA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88620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Sacola kraft · guardanapo xadrez · 6 sabores · etiqueta com QR code · caixa de transporte.</a:t>
            </a:r>
          </a:p>
        </p:txBody>
      </p:sp>
      <p:sp>
        <p:nvSpPr>
          <p:cNvPr id="10" name=""/>
          <p:cNvSpPr/>
          <p:nvPr/>
        </p:nvSpPr>
        <p:spPr>
          <a:xfrm>
            <a:off x="640080" y="5349240"/>
            <a:ext cx="5394960" cy="502920"/>
          </a:xfrm>
          <a:prstGeom prst="roundRect">
            <a:avLst>
              <a:gd name="" fmla="val 50000"/>
            </a:avLst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822960" y="5376672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Guardanapo a cotar · papel estampado sai mais barato</a:t>
            </a:r>
          </a:p>
        </p:txBody>
      </p:sp>
      <p:sp>
        <p:nvSpPr>
          <p:cNvPr id="12" name="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" fmla="val 5000"/>
            </a:avLst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/>
          <p:nvPr/>
        </p:nvSpPr>
        <p:spPr>
          <a:xfrm>
            <a:off x="9418320" y="1828800"/>
            <a:ext cx="1828800" cy="1828800"/>
          </a:xfrm>
          <a:prstGeom prst="ellipse">
            <a:avLst/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/>
          <p:nvPr/>
        </p:nvSpPr>
        <p:spPr>
          <a:xfrm>
            <a:off x="6492240" y="3200400"/>
            <a:ext cx="5029200" cy="54864"/>
          </a:xfrm>
          <a:prstGeom prst="rect">
            <a:avLst/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"/>
          <p:cNvSpPr/>
          <p:nvPr/>
        </p:nvSpPr>
        <p:spPr>
          <a:xfrm>
            <a:off x="6858000" y="3383280"/>
            <a:ext cx="4297680" cy="45720"/>
          </a:xfrm>
          <a:prstGeom prst="rect">
            <a:avLst/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/>
          <p:nvPr/>
        </p:nvSpPr>
        <p:spPr>
          <a:xfrm>
            <a:off x="7406640" y="2103120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"/>
          <p:cNvSpPr/>
          <p:nvPr/>
        </p:nvSpPr>
        <p:spPr>
          <a:xfrm>
            <a:off x="7406640" y="2377439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"/>
          <p:cNvSpPr/>
          <p:nvPr/>
        </p:nvSpPr>
        <p:spPr>
          <a:xfrm>
            <a:off x="7406640" y="2651760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/>
          <p:nvPr/>
        </p:nvSpPr>
        <p:spPr>
          <a:xfrm>
            <a:off x="7726679" y="2103120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"/>
          <p:cNvSpPr/>
          <p:nvPr/>
        </p:nvSpPr>
        <p:spPr>
          <a:xfrm>
            <a:off x="7726679" y="2377439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/>
          <p:nvPr/>
        </p:nvSpPr>
        <p:spPr>
          <a:xfrm>
            <a:off x="7726679" y="2651760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/>
          <p:nvPr/>
        </p:nvSpPr>
        <p:spPr>
          <a:xfrm>
            <a:off x="8046719" y="2103120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"/>
          <p:cNvSpPr/>
          <p:nvPr/>
        </p:nvSpPr>
        <p:spPr>
          <a:xfrm>
            <a:off x="8046719" y="2377439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"/>
          <p:cNvSpPr/>
          <p:nvPr/>
        </p:nvSpPr>
        <p:spPr>
          <a:xfrm>
            <a:off x="8046719" y="2651760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/>
          <p:nvPr/>
        </p:nvSpPr>
        <p:spPr>
          <a:xfrm>
            <a:off x="8366759" y="2103120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"/>
          <p:cNvSpPr/>
          <p:nvPr/>
        </p:nvSpPr>
        <p:spPr>
          <a:xfrm>
            <a:off x="8366759" y="2377439"/>
            <a:ext cx="320040" cy="274320"/>
          </a:xfrm>
          <a:prstGeom prst="rect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"/>
          <p:cNvSpPr/>
          <p:nvPr/>
        </p:nvSpPr>
        <p:spPr>
          <a:xfrm>
            <a:off x="8366759" y="2651760"/>
            <a:ext cx="32004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/>
          <p:nvPr/>
        </p:nvSpPr>
        <p:spPr>
          <a:xfrm>
            <a:off x="8823960" y="2286000"/>
            <a:ext cx="384048" cy="603504"/>
          </a:xfrm>
          <a:prstGeom prst="roundRect">
            <a:avLst>
              <a:gd name="" fmla="val 12000"/>
            </a:avLst>
          </a:prstGeom>
          <a:solidFill>
            <a:srgbClr val="A07A4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"/>
          <p:cNvSpPr/>
          <p:nvPr/>
        </p:nvSpPr>
        <p:spPr>
          <a:xfrm>
            <a:off x="8823960" y="2286000"/>
            <a:ext cx="384048" cy="96560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"/>
          <p:cNvSpPr/>
          <p:nvPr/>
        </p:nvSpPr>
        <p:spPr>
          <a:xfrm>
            <a:off x="8870045" y="2503261"/>
            <a:ext cx="291876" cy="2172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/>
          <p:nvPr/>
        </p:nvSpPr>
        <p:spPr>
          <a:xfrm>
            <a:off x="890076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"/>
          <p:cNvSpPr/>
          <p:nvPr/>
        </p:nvSpPr>
        <p:spPr>
          <a:xfrm>
            <a:off x="897757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"/>
          <p:cNvSpPr/>
          <p:nvPr/>
        </p:nvSpPr>
        <p:spPr>
          <a:xfrm>
            <a:off x="9054388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"/>
          <p:cNvSpPr/>
          <p:nvPr/>
        </p:nvSpPr>
        <p:spPr>
          <a:xfrm>
            <a:off x="9235440" y="2286000"/>
            <a:ext cx="384048" cy="603504"/>
          </a:xfrm>
          <a:prstGeom prst="roundRect">
            <a:avLst>
              <a:gd name="" fmla="val 12000"/>
            </a:avLst>
          </a:prstGeom>
          <a:solidFill>
            <a:srgbClr val="6D870A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"/>
          <p:cNvSpPr/>
          <p:nvPr/>
        </p:nvSpPr>
        <p:spPr>
          <a:xfrm>
            <a:off x="9235440" y="2286000"/>
            <a:ext cx="384048" cy="96560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"/>
          <p:cNvSpPr/>
          <p:nvPr/>
        </p:nvSpPr>
        <p:spPr>
          <a:xfrm>
            <a:off x="9281525" y="2503261"/>
            <a:ext cx="291876" cy="2172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"/>
          <p:cNvSpPr/>
          <p:nvPr/>
        </p:nvSpPr>
        <p:spPr>
          <a:xfrm>
            <a:off x="931224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"/>
          <p:cNvSpPr/>
          <p:nvPr/>
        </p:nvSpPr>
        <p:spPr>
          <a:xfrm>
            <a:off x="938905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"/>
          <p:cNvSpPr/>
          <p:nvPr/>
        </p:nvSpPr>
        <p:spPr>
          <a:xfrm>
            <a:off x="9465868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"/>
          <p:cNvSpPr/>
          <p:nvPr/>
        </p:nvSpPr>
        <p:spPr>
          <a:xfrm>
            <a:off x="9646920" y="2286000"/>
            <a:ext cx="384048" cy="603504"/>
          </a:xfrm>
          <a:prstGeom prst="roundRect">
            <a:avLst>
              <a:gd name="" fmla="val 12000"/>
            </a:avLst>
          </a:prstGeom>
          <a:solidFill>
            <a:srgbClr val="F25A1B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"/>
          <p:cNvSpPr/>
          <p:nvPr/>
        </p:nvSpPr>
        <p:spPr>
          <a:xfrm>
            <a:off x="9646920" y="2286000"/>
            <a:ext cx="384048" cy="96560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"/>
          <p:cNvSpPr/>
          <p:nvPr/>
        </p:nvSpPr>
        <p:spPr>
          <a:xfrm>
            <a:off x="9693005" y="2503261"/>
            <a:ext cx="291876" cy="21726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"/>
          <p:cNvSpPr/>
          <p:nvPr/>
        </p:nvSpPr>
        <p:spPr>
          <a:xfrm>
            <a:off x="972372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"/>
          <p:cNvSpPr/>
          <p:nvPr/>
        </p:nvSpPr>
        <p:spPr>
          <a:xfrm>
            <a:off x="9800539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"/>
          <p:cNvSpPr/>
          <p:nvPr/>
        </p:nvSpPr>
        <p:spPr>
          <a:xfrm>
            <a:off x="9877348" y="2557576"/>
            <a:ext cx="76809" cy="108630"/>
          </a:xfrm>
          <a:prstGeom prst="ellipse">
            <a:avLst/>
          </a:prstGeom>
          <a:solidFill>
            <a:srgbClr val="E8C07D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"/>
          <p:cNvSpPr/>
          <p:nvPr/>
        </p:nvSpPr>
        <p:spPr>
          <a:xfrm>
            <a:off x="7772400" y="2103120"/>
            <a:ext cx="91440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"/>
          <p:cNvSpPr/>
          <p:nvPr/>
        </p:nvSpPr>
        <p:spPr>
          <a:xfrm>
            <a:off x="7726680" y="2468880"/>
            <a:ext cx="822960" cy="822960"/>
          </a:xfrm>
          <a:prstGeom prst="blockArc">
            <a:avLst/>
          </a:prstGeom>
          <a:noFill/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"/>
          <p:cNvSpPr/>
          <p:nvPr/>
        </p:nvSpPr>
        <p:spPr>
          <a:xfrm>
            <a:off x="9006840" y="2468880"/>
            <a:ext cx="822960" cy="822960"/>
          </a:xfrm>
          <a:prstGeom prst="blockArc">
            <a:avLst/>
          </a:prstGeom>
          <a:noFill/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"/>
          <p:cNvSpPr/>
          <p:nvPr/>
        </p:nvSpPr>
        <p:spPr>
          <a:xfrm rot="10800000">
            <a:off x="7315200" y="2834640"/>
            <a:ext cx="2926080" cy="2148840"/>
          </a:xfrm>
          <a:prstGeom prst="trapezoid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"/>
          <p:cNvSpPr/>
          <p:nvPr/>
        </p:nvSpPr>
        <p:spPr>
          <a:xfrm>
            <a:off x="8092440" y="3337560"/>
            <a:ext cx="1371600" cy="1097280"/>
          </a:xfrm>
          <a:prstGeom prst="ellipse">
            <a:avLst/>
          </a:prstGeom>
          <a:noFill/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"/>
          <p:cNvSpPr txBox="1"/>
          <p:nvPr/>
        </p:nvSpPr>
        <p:spPr>
          <a:xfrm>
            <a:off x="8092440" y="3520440"/>
            <a:ext cx="13716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MARETTI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SUNSET PICNIC</a:t>
            </a:r>
          </a:p>
        </p:txBody>
      </p:sp>
      <p:sp>
        <p:nvSpPr>
          <p:cNvPr id="52" name=""/>
          <p:cNvSpPr/>
          <p:nvPr/>
        </p:nvSpPr>
        <p:spPr>
          <a:xfrm>
            <a:off x="10424160" y="3566160"/>
            <a:ext cx="960120" cy="1188720"/>
          </a:xfrm>
          <a:prstGeom prst="roundRect">
            <a:avLst>
              <a:gd name="" fmla="val 8000"/>
            </a:avLst>
          </a:prstGeom>
          <a:solidFill>
            <a:srgbClr val="FFFFFF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"/>
          <p:cNvSpPr/>
          <p:nvPr/>
        </p:nvSpPr>
        <p:spPr>
          <a:xfrm>
            <a:off x="10533888" y="3675887"/>
            <a:ext cx="301752" cy="301752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"/>
          <p:cNvSpPr/>
          <p:nvPr/>
        </p:nvSpPr>
        <p:spPr>
          <a:xfrm>
            <a:off x="10945367" y="3675887"/>
            <a:ext cx="301752" cy="301752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"/>
          <p:cNvSpPr/>
          <p:nvPr/>
        </p:nvSpPr>
        <p:spPr>
          <a:xfrm>
            <a:off x="10533888" y="4087368"/>
            <a:ext cx="301752" cy="301752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"/>
          <p:cNvSpPr/>
          <p:nvPr/>
        </p:nvSpPr>
        <p:spPr>
          <a:xfrm>
            <a:off x="10972800" y="4114800"/>
            <a:ext cx="109728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"/>
          <p:cNvSpPr txBox="1"/>
          <p:nvPr/>
        </p:nvSpPr>
        <p:spPr>
          <a:xfrm>
            <a:off x="10424160" y="438912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B1010"/>
                </a:solidFill>
                <a:latin typeface="DM Sans"/>
              </a:rPr>
              <a:t>playlist</a:t>
            </a:r>
          </a:p>
        </p:txBody>
      </p:sp>
      <p:sp>
        <p:nvSpPr>
          <p:cNvPr id="58" name=""/>
          <p:cNvSpPr/>
          <p:nvPr/>
        </p:nvSpPr>
        <p:spPr>
          <a:xfrm>
            <a:off x="658368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"/>
          <p:cNvSpPr txBox="1"/>
          <p:nvPr/>
        </p:nvSpPr>
        <p:spPr>
          <a:xfrm>
            <a:off x="658368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1</a:t>
            </a:r>
          </a:p>
        </p:txBody>
      </p:sp>
      <p:sp>
        <p:nvSpPr>
          <p:cNvPr id="60" name=""/>
          <p:cNvSpPr txBox="1"/>
          <p:nvPr/>
        </p:nvSpPr>
        <p:spPr>
          <a:xfrm>
            <a:off x="68854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sacola kraft</a:t>
            </a:r>
          </a:p>
        </p:txBody>
      </p:sp>
      <p:sp>
        <p:nvSpPr>
          <p:cNvPr id="61" name=""/>
          <p:cNvSpPr/>
          <p:nvPr/>
        </p:nvSpPr>
        <p:spPr>
          <a:xfrm>
            <a:off x="822960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"/>
          <p:cNvSpPr txBox="1"/>
          <p:nvPr/>
        </p:nvSpPr>
        <p:spPr>
          <a:xfrm>
            <a:off x="822960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2</a:t>
            </a:r>
          </a:p>
        </p:txBody>
      </p:sp>
      <p:sp>
        <p:nvSpPr>
          <p:cNvPr id="63" name=""/>
          <p:cNvSpPr txBox="1"/>
          <p:nvPr/>
        </p:nvSpPr>
        <p:spPr>
          <a:xfrm>
            <a:off x="853135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guardanapo xadrez</a:t>
            </a:r>
          </a:p>
        </p:txBody>
      </p:sp>
      <p:sp>
        <p:nvSpPr>
          <p:cNvPr id="64" name=""/>
          <p:cNvSpPr/>
          <p:nvPr/>
        </p:nvSpPr>
        <p:spPr>
          <a:xfrm>
            <a:off x="996696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"/>
          <p:cNvSpPr txBox="1"/>
          <p:nvPr/>
        </p:nvSpPr>
        <p:spPr>
          <a:xfrm>
            <a:off x="996696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3</a:t>
            </a:r>
          </a:p>
        </p:txBody>
      </p:sp>
      <p:sp>
        <p:nvSpPr>
          <p:cNvPr id="66" name=""/>
          <p:cNvSpPr txBox="1"/>
          <p:nvPr/>
        </p:nvSpPr>
        <p:spPr>
          <a:xfrm>
            <a:off x="1026871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QR da playlist</a:t>
            </a:r>
          </a:p>
        </p:txBody>
      </p:sp>
      <p:sp>
        <p:nvSpPr>
          <p:cNvPr id="67" name="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Desenho ilustrativo; medidas validadas com uma amostra do pacote.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 04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Teste às cegas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12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1010"/>
                </a:solidFill>
                <a:latin typeface="DM Sans"/>
              </a:rPr>
              <a:t>Seis envelopes numerados, sem revelar o sabor, com gabarito lacrado. O desafio: acertar os seis sabores e contar nos stories.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3520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5A1B"/>
                </a:solidFill>
                <a:latin typeface="Bebas Neue"/>
              </a:rPr>
              <a:t>NA CAIXA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88620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Caixa com tampa · 6 envelopes kraft numerados · gabarito lacrado com selo · cartinha com QR code.</a:t>
            </a:r>
          </a:p>
        </p:txBody>
      </p:sp>
      <p:sp>
        <p:nvSpPr>
          <p:cNvPr id="10" name=""/>
          <p:cNvSpPr/>
          <p:nvPr/>
        </p:nvSpPr>
        <p:spPr>
          <a:xfrm>
            <a:off x="640080" y="5349240"/>
            <a:ext cx="5394960" cy="502920"/>
          </a:xfrm>
          <a:prstGeom prst="roundRect">
            <a:avLst>
              <a:gd name="" fmla="val 50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822960" y="5376672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Cabe na base de R$ 100 por kit</a:t>
            </a:r>
          </a:p>
        </p:txBody>
      </p:sp>
      <p:sp>
        <p:nvSpPr>
          <p:cNvPr id="12" name="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" fmla="val 5000"/>
            </a:avLst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/>
          <p:nvPr/>
        </p:nvSpPr>
        <p:spPr>
          <a:xfrm rot="21300000">
            <a:off x="6766560" y="1783080"/>
            <a:ext cx="3291840" cy="502920"/>
          </a:xfrm>
          <a:prstGeom prst="roundRect">
            <a:avLst>
              <a:gd name="" fmla="val 10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 txBox="1"/>
          <p:nvPr/>
        </p:nvSpPr>
        <p:spPr>
          <a:xfrm rot="21300000">
            <a:off x="6766560" y="178308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EC952E"/>
                </a:solidFill>
                <a:latin typeface="Bebas Neue"/>
              </a:rPr>
              <a:t>TESTE ÀS CEGAS</a:t>
            </a:r>
          </a:p>
        </p:txBody>
      </p:sp>
      <p:sp>
        <p:nvSpPr>
          <p:cNvPr id="15" name=""/>
          <p:cNvSpPr/>
          <p:nvPr/>
        </p:nvSpPr>
        <p:spPr>
          <a:xfrm>
            <a:off x="6629400" y="2468880"/>
            <a:ext cx="3657600" cy="2514600"/>
          </a:xfrm>
          <a:prstGeom prst="roundRect">
            <a:avLst>
              <a:gd name="" fmla="val 4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/>
          <p:nvPr/>
        </p:nvSpPr>
        <p:spPr>
          <a:xfrm>
            <a:off x="6739128" y="2578608"/>
            <a:ext cx="3438144" cy="2295144"/>
          </a:xfrm>
          <a:prstGeom prst="rect">
            <a:avLst/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"/>
          <p:cNvSpPr/>
          <p:nvPr/>
        </p:nvSpPr>
        <p:spPr>
          <a:xfrm>
            <a:off x="6858000" y="269748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"/>
          <p:cNvSpPr/>
          <p:nvPr/>
        </p:nvSpPr>
        <p:spPr>
          <a:xfrm rot="10800000">
            <a:off x="6858000" y="269748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 txBox="1"/>
          <p:nvPr/>
        </p:nvSpPr>
        <p:spPr>
          <a:xfrm>
            <a:off x="6858000" y="313639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1</a:t>
            </a:r>
          </a:p>
        </p:txBody>
      </p:sp>
      <p:sp>
        <p:nvSpPr>
          <p:cNvPr id="20" name=""/>
          <p:cNvSpPr/>
          <p:nvPr/>
        </p:nvSpPr>
        <p:spPr>
          <a:xfrm>
            <a:off x="7955279" y="269748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/>
          <p:nvPr/>
        </p:nvSpPr>
        <p:spPr>
          <a:xfrm rot="10800000">
            <a:off x="7955279" y="269748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 txBox="1"/>
          <p:nvPr/>
        </p:nvSpPr>
        <p:spPr>
          <a:xfrm>
            <a:off x="7955279" y="313639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2</a:t>
            </a:r>
          </a:p>
        </p:txBody>
      </p:sp>
      <p:sp>
        <p:nvSpPr>
          <p:cNvPr id="23" name=""/>
          <p:cNvSpPr/>
          <p:nvPr/>
        </p:nvSpPr>
        <p:spPr>
          <a:xfrm>
            <a:off x="9052560" y="269748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"/>
          <p:cNvSpPr/>
          <p:nvPr/>
        </p:nvSpPr>
        <p:spPr>
          <a:xfrm rot="10800000">
            <a:off x="9052560" y="269748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 txBox="1"/>
          <p:nvPr/>
        </p:nvSpPr>
        <p:spPr>
          <a:xfrm>
            <a:off x="9052560" y="313639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3</a:t>
            </a:r>
          </a:p>
        </p:txBody>
      </p:sp>
      <p:sp>
        <p:nvSpPr>
          <p:cNvPr id="26" name=""/>
          <p:cNvSpPr/>
          <p:nvPr/>
        </p:nvSpPr>
        <p:spPr>
          <a:xfrm>
            <a:off x="6858000" y="379476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"/>
          <p:cNvSpPr/>
          <p:nvPr/>
        </p:nvSpPr>
        <p:spPr>
          <a:xfrm rot="10800000">
            <a:off x="6858000" y="379476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 txBox="1"/>
          <p:nvPr/>
        </p:nvSpPr>
        <p:spPr>
          <a:xfrm>
            <a:off x="6858000" y="423367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4</a:t>
            </a:r>
          </a:p>
        </p:txBody>
      </p:sp>
      <p:sp>
        <p:nvSpPr>
          <p:cNvPr id="29" name=""/>
          <p:cNvSpPr/>
          <p:nvPr/>
        </p:nvSpPr>
        <p:spPr>
          <a:xfrm>
            <a:off x="7955279" y="379476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"/>
          <p:cNvSpPr/>
          <p:nvPr/>
        </p:nvSpPr>
        <p:spPr>
          <a:xfrm rot="10800000">
            <a:off x="7955279" y="379476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 txBox="1"/>
          <p:nvPr/>
        </p:nvSpPr>
        <p:spPr>
          <a:xfrm>
            <a:off x="7955279" y="423367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5</a:t>
            </a:r>
          </a:p>
        </p:txBody>
      </p:sp>
      <p:sp>
        <p:nvSpPr>
          <p:cNvPr id="32" name=""/>
          <p:cNvSpPr/>
          <p:nvPr/>
        </p:nvSpPr>
        <p:spPr>
          <a:xfrm>
            <a:off x="9052560" y="3794760"/>
            <a:ext cx="960120" cy="91440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"/>
          <p:cNvSpPr/>
          <p:nvPr/>
        </p:nvSpPr>
        <p:spPr>
          <a:xfrm rot="10800000">
            <a:off x="9052560" y="3794760"/>
            <a:ext cx="960120" cy="457200"/>
          </a:xfrm>
          <a:prstGeom prst="triangle">
            <a:avLst/>
          </a:prstGeom>
          <a:solidFill>
            <a:srgbClr val="C9A06B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"/>
          <p:cNvSpPr txBox="1"/>
          <p:nvPr/>
        </p:nvSpPr>
        <p:spPr>
          <a:xfrm>
            <a:off x="9052560" y="4233672"/>
            <a:ext cx="9601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8B1010"/>
                </a:solidFill>
                <a:latin typeface="Bebas Neue"/>
              </a:rPr>
              <a:t>6</a:t>
            </a:r>
          </a:p>
        </p:txBody>
      </p:sp>
      <p:sp>
        <p:nvSpPr>
          <p:cNvPr id="35" name=""/>
          <p:cNvSpPr/>
          <p:nvPr/>
        </p:nvSpPr>
        <p:spPr>
          <a:xfrm>
            <a:off x="10469880" y="2468880"/>
            <a:ext cx="1005840" cy="251460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"/>
          <p:cNvSpPr txBox="1"/>
          <p:nvPr/>
        </p:nvSpPr>
        <p:spPr>
          <a:xfrm>
            <a:off x="10469880" y="2560320"/>
            <a:ext cx="1005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B1010"/>
                </a:solidFill>
                <a:latin typeface="Bebas Neue"/>
              </a:rPr>
              <a:t>GABARITO</a:t>
            </a:r>
          </a:p>
        </p:txBody>
      </p:sp>
      <p:sp>
        <p:nvSpPr>
          <p:cNvPr id="37" name=""/>
          <p:cNvSpPr/>
          <p:nvPr/>
        </p:nvSpPr>
        <p:spPr>
          <a:xfrm>
            <a:off x="10607040" y="3017520"/>
            <a:ext cx="731520" cy="36576"/>
          </a:xfrm>
          <a:prstGeom prst="rect">
            <a:avLst/>
          </a:prstGeom>
          <a:solidFill>
            <a:srgbClr val="7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"/>
          <p:cNvSpPr/>
          <p:nvPr/>
        </p:nvSpPr>
        <p:spPr>
          <a:xfrm>
            <a:off x="10607040" y="3218688"/>
            <a:ext cx="731520" cy="36576"/>
          </a:xfrm>
          <a:prstGeom prst="rect">
            <a:avLst/>
          </a:prstGeom>
          <a:solidFill>
            <a:srgbClr val="7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"/>
          <p:cNvSpPr/>
          <p:nvPr/>
        </p:nvSpPr>
        <p:spPr>
          <a:xfrm>
            <a:off x="10607040" y="3419856"/>
            <a:ext cx="731520" cy="36576"/>
          </a:xfrm>
          <a:prstGeom prst="rect">
            <a:avLst/>
          </a:prstGeom>
          <a:solidFill>
            <a:srgbClr val="7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"/>
          <p:cNvSpPr/>
          <p:nvPr/>
        </p:nvSpPr>
        <p:spPr>
          <a:xfrm>
            <a:off x="10607040" y="3621024"/>
            <a:ext cx="731520" cy="36576"/>
          </a:xfrm>
          <a:prstGeom prst="rect">
            <a:avLst/>
          </a:prstGeom>
          <a:solidFill>
            <a:srgbClr val="7A4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"/>
          <p:cNvSpPr/>
          <p:nvPr/>
        </p:nvSpPr>
        <p:spPr>
          <a:xfrm>
            <a:off x="10680192" y="3977639"/>
            <a:ext cx="594360" cy="594360"/>
          </a:xfrm>
          <a:prstGeom prst="ellipse">
            <a:avLst/>
          </a:prstGeom>
          <a:solidFill>
            <a:srgbClr val="C017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"/>
          <p:cNvSpPr txBox="1"/>
          <p:nvPr/>
        </p:nvSpPr>
        <p:spPr>
          <a:xfrm>
            <a:off x="10680192" y="3977639"/>
            <a:ext cx="59436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FFFFF"/>
                </a:solidFill>
                <a:latin typeface="Bebas Neue"/>
              </a:rPr>
              <a:t>M</a:t>
            </a:r>
          </a:p>
        </p:txBody>
      </p:sp>
      <p:sp>
        <p:nvSpPr>
          <p:cNvPr id="43" name=""/>
          <p:cNvSpPr/>
          <p:nvPr/>
        </p:nvSpPr>
        <p:spPr>
          <a:xfrm>
            <a:off x="658368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"/>
          <p:cNvSpPr txBox="1"/>
          <p:nvPr/>
        </p:nvSpPr>
        <p:spPr>
          <a:xfrm>
            <a:off x="658368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1</a:t>
            </a:r>
          </a:p>
        </p:txBody>
      </p:sp>
      <p:sp>
        <p:nvSpPr>
          <p:cNvPr id="45" name=""/>
          <p:cNvSpPr txBox="1"/>
          <p:nvPr/>
        </p:nvSpPr>
        <p:spPr>
          <a:xfrm>
            <a:off x="68854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6 envelopes</a:t>
            </a:r>
          </a:p>
        </p:txBody>
      </p:sp>
      <p:sp>
        <p:nvSpPr>
          <p:cNvPr id="46" name=""/>
          <p:cNvSpPr/>
          <p:nvPr/>
        </p:nvSpPr>
        <p:spPr>
          <a:xfrm>
            <a:off x="822960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"/>
          <p:cNvSpPr txBox="1"/>
          <p:nvPr/>
        </p:nvSpPr>
        <p:spPr>
          <a:xfrm>
            <a:off x="822960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2</a:t>
            </a:r>
          </a:p>
        </p:txBody>
      </p:sp>
      <p:sp>
        <p:nvSpPr>
          <p:cNvPr id="48" name=""/>
          <p:cNvSpPr txBox="1"/>
          <p:nvPr/>
        </p:nvSpPr>
        <p:spPr>
          <a:xfrm>
            <a:off x="853135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caixa com tampa</a:t>
            </a:r>
          </a:p>
        </p:txBody>
      </p:sp>
      <p:sp>
        <p:nvSpPr>
          <p:cNvPr id="49" name=""/>
          <p:cNvSpPr/>
          <p:nvPr/>
        </p:nvSpPr>
        <p:spPr>
          <a:xfrm>
            <a:off x="996696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"/>
          <p:cNvSpPr txBox="1"/>
          <p:nvPr/>
        </p:nvSpPr>
        <p:spPr>
          <a:xfrm>
            <a:off x="996696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3</a:t>
            </a:r>
          </a:p>
        </p:txBody>
      </p:sp>
      <p:sp>
        <p:nvSpPr>
          <p:cNvPr id="51" name=""/>
          <p:cNvSpPr txBox="1"/>
          <p:nvPr/>
        </p:nvSpPr>
        <p:spPr>
          <a:xfrm>
            <a:off x="1026871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gabarito lacrado</a:t>
            </a:r>
          </a:p>
        </p:txBody>
      </p:sp>
      <p:sp>
        <p:nvSpPr>
          <p:cNvPr id="52" name="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Desenho ilustrativo; medidas validadas com uma amostra do pacote.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PRESS KIT 05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Direto da padaria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13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B1010"/>
                </a:solidFill>
                <a:latin typeface="DM Sans"/>
              </a:rPr>
              <a:t>Embalagem de saco de padaria com carimbo “Maretti Bakery” e etiqueta escrita à mão, reforçando o pão de verdade feito de forma artesanal.</a:t>
            </a:r>
          </a:p>
        </p:txBody>
      </p:sp>
      <p:sp>
        <p:nvSpPr>
          <p:cNvPr id="8" name=""/>
          <p:cNvSpPr txBox="1"/>
          <p:nvPr/>
        </p:nvSpPr>
        <p:spPr>
          <a:xfrm>
            <a:off x="640080" y="35204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25A1B"/>
                </a:solidFill>
                <a:latin typeface="Bebas Neue"/>
              </a:rPr>
              <a:t>NA CAIXA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3886200"/>
            <a:ext cx="53949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Saco de padaria · 6 sabores · mini passaporte com um carimbo por sabor e três usos: salada, sopa e farofinha.</a:t>
            </a:r>
          </a:p>
        </p:txBody>
      </p:sp>
      <p:sp>
        <p:nvSpPr>
          <p:cNvPr id="10" name=""/>
          <p:cNvSpPr/>
          <p:nvPr/>
        </p:nvSpPr>
        <p:spPr>
          <a:xfrm>
            <a:off x="640080" y="5349240"/>
            <a:ext cx="5394960" cy="502920"/>
          </a:xfrm>
          <a:prstGeom prst="roundRect">
            <a:avLst>
              <a:gd name="" fmla="val 50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"/>
          <p:cNvSpPr txBox="1"/>
          <p:nvPr/>
        </p:nvSpPr>
        <p:spPr>
          <a:xfrm>
            <a:off x="822960" y="5376672"/>
            <a:ext cx="50292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DM Sans"/>
              </a:rPr>
              <a:t>Cabe na base de R$ 100 por kit</a:t>
            </a:r>
          </a:p>
        </p:txBody>
      </p:sp>
      <p:sp>
        <p:nvSpPr>
          <p:cNvPr id="12" name=""/>
          <p:cNvSpPr/>
          <p:nvPr/>
        </p:nvSpPr>
        <p:spPr>
          <a:xfrm>
            <a:off x="6309360" y="1600200"/>
            <a:ext cx="5394960" cy="4206240"/>
          </a:xfrm>
          <a:prstGeom prst="roundRect">
            <a:avLst>
              <a:gd name="" fmla="val 5000"/>
            </a:avLst>
          </a:prstGeom>
          <a:solidFill>
            <a:srgbClr val="FBF3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"/>
          <p:cNvSpPr/>
          <p:nvPr/>
        </p:nvSpPr>
        <p:spPr>
          <a:xfrm>
            <a:off x="6720840" y="2286000"/>
            <a:ext cx="2377440" cy="2697480"/>
          </a:xfrm>
          <a:prstGeom prst="rect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"/>
          <p:cNvSpPr/>
          <p:nvPr/>
        </p:nvSpPr>
        <p:spPr>
          <a:xfrm>
            <a:off x="6720840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"/>
          <p:cNvSpPr/>
          <p:nvPr/>
        </p:nvSpPr>
        <p:spPr>
          <a:xfrm>
            <a:off x="7116775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/>
          <p:nvPr/>
        </p:nvSpPr>
        <p:spPr>
          <a:xfrm>
            <a:off x="7512710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"/>
          <p:cNvSpPr/>
          <p:nvPr/>
        </p:nvSpPr>
        <p:spPr>
          <a:xfrm>
            <a:off x="7908645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"/>
          <p:cNvSpPr/>
          <p:nvPr/>
        </p:nvSpPr>
        <p:spPr>
          <a:xfrm>
            <a:off x="8304580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"/>
          <p:cNvSpPr/>
          <p:nvPr/>
        </p:nvSpPr>
        <p:spPr>
          <a:xfrm>
            <a:off x="8700516" y="2057400"/>
            <a:ext cx="395935" cy="274320"/>
          </a:xfrm>
          <a:prstGeom prst="triangle">
            <a:avLst/>
          </a:prstGeom>
          <a:solidFill>
            <a:srgbClr val="E3C99A"/>
          </a:solidFill>
          <a:ln w="25400">
            <a:solidFill>
              <a:srgbClr val="8A5E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"/>
          <p:cNvSpPr/>
          <p:nvPr/>
        </p:nvSpPr>
        <p:spPr>
          <a:xfrm>
            <a:off x="6720840" y="2286000"/>
            <a:ext cx="2377440" cy="109728"/>
          </a:xfrm>
          <a:prstGeom prst="rect">
            <a:avLst/>
          </a:prstGeom>
          <a:solidFill>
            <a:srgbClr val="C9A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"/>
          <p:cNvSpPr/>
          <p:nvPr/>
        </p:nvSpPr>
        <p:spPr>
          <a:xfrm>
            <a:off x="7040880" y="2834640"/>
            <a:ext cx="1737360" cy="1737360"/>
          </a:xfrm>
          <a:prstGeom prst="ellipse">
            <a:avLst/>
          </a:prstGeom>
          <a:noFill/>
          <a:ln w="25400">
            <a:solidFill>
              <a:srgbClr val="C017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"/>
          <p:cNvSpPr/>
          <p:nvPr/>
        </p:nvSpPr>
        <p:spPr>
          <a:xfrm>
            <a:off x="7150608" y="2944368"/>
            <a:ext cx="1517904" cy="1517904"/>
          </a:xfrm>
          <a:prstGeom prst="ellipse">
            <a:avLst/>
          </a:prstGeom>
          <a:noFill/>
          <a:ln w="25400">
            <a:solidFill>
              <a:srgbClr val="C0171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"/>
          <p:cNvSpPr txBox="1"/>
          <p:nvPr/>
        </p:nvSpPr>
        <p:spPr>
          <a:xfrm>
            <a:off x="7040880" y="3200400"/>
            <a:ext cx="1737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2000" b="0">
                <a:solidFill>
                  <a:srgbClr val="C01718"/>
                </a:solidFill>
                <a:latin typeface="Bebas Neue"/>
              </a:rPr>
              <a:t>MARETTI</a:t>
            </a:r>
          </a:p>
          <a:p>
            <a:pPr algn="ctr">
              <a:lnSpc>
                <a:spcPct val="95000"/>
              </a:lnSpc>
            </a:pPr>
            <a:r>
              <a:rPr sz="2000" b="0">
                <a:solidFill>
                  <a:srgbClr val="C01718"/>
                </a:solidFill>
                <a:latin typeface="Bebas Neue"/>
              </a:rPr>
              <a:t>BAKERY</a:t>
            </a:r>
          </a:p>
        </p:txBody>
      </p:sp>
      <p:sp>
        <p:nvSpPr>
          <p:cNvPr id="24" name=""/>
          <p:cNvSpPr/>
          <p:nvPr/>
        </p:nvSpPr>
        <p:spPr>
          <a:xfrm rot="480000">
            <a:off x="8915400" y="2468880"/>
            <a:ext cx="1143000" cy="548640"/>
          </a:xfrm>
          <a:prstGeom prst="homePlate">
            <a:avLst/>
          </a:prstGeom>
          <a:solidFill>
            <a:srgbClr val="FFFFFF"/>
          </a:solidFill>
          <a:ln w="25400">
            <a:solidFill>
              <a:srgbClr val="8B10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"/>
          <p:cNvSpPr txBox="1"/>
          <p:nvPr/>
        </p:nvSpPr>
        <p:spPr>
          <a:xfrm rot="480000">
            <a:off x="8915400" y="2496312"/>
            <a:ext cx="960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B1010"/>
                </a:solidFill>
                <a:latin typeface="DM Sans"/>
              </a:rPr>
              <a:t>Para Ana ♥</a:t>
            </a:r>
          </a:p>
        </p:txBody>
      </p:sp>
      <p:sp>
        <p:nvSpPr>
          <p:cNvPr id="26" name=""/>
          <p:cNvSpPr/>
          <p:nvPr/>
        </p:nvSpPr>
        <p:spPr>
          <a:xfrm>
            <a:off x="9509760" y="3291840"/>
            <a:ext cx="1920240" cy="1691640"/>
          </a:xfrm>
          <a:prstGeom prst="roundRect">
            <a:avLst>
              <a:gd name="" fmla="val 6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"/>
          <p:cNvSpPr/>
          <p:nvPr/>
        </p:nvSpPr>
        <p:spPr>
          <a:xfrm>
            <a:off x="10451592" y="3291840"/>
            <a:ext cx="36576" cy="1691640"/>
          </a:xfrm>
          <a:prstGeom prst="rect">
            <a:avLst/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"/>
          <p:cNvSpPr txBox="1"/>
          <p:nvPr/>
        </p:nvSpPr>
        <p:spPr>
          <a:xfrm>
            <a:off x="9509760" y="3337560"/>
            <a:ext cx="941832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EC952E"/>
                </a:solidFill>
                <a:latin typeface="Bebas Neue"/>
              </a:rPr>
              <a:t>PASSAPORTE</a:t>
            </a:r>
          </a:p>
        </p:txBody>
      </p:sp>
      <p:sp>
        <p:nvSpPr>
          <p:cNvPr id="29" name=""/>
          <p:cNvSpPr/>
          <p:nvPr/>
        </p:nvSpPr>
        <p:spPr>
          <a:xfrm>
            <a:off x="9646920" y="3703320"/>
            <a:ext cx="320040" cy="320040"/>
          </a:xfrm>
          <a:prstGeom prst="ellipse">
            <a:avLst/>
          </a:prstGeom>
          <a:noFill/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"/>
          <p:cNvSpPr/>
          <p:nvPr/>
        </p:nvSpPr>
        <p:spPr>
          <a:xfrm>
            <a:off x="10012680" y="3703320"/>
            <a:ext cx="320040" cy="320040"/>
          </a:xfrm>
          <a:prstGeom prst="ellipse">
            <a:avLst/>
          </a:prstGeom>
          <a:noFill/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"/>
          <p:cNvSpPr/>
          <p:nvPr/>
        </p:nvSpPr>
        <p:spPr>
          <a:xfrm>
            <a:off x="9646920" y="4160520"/>
            <a:ext cx="320040" cy="320040"/>
          </a:xfrm>
          <a:prstGeom prst="ellipse">
            <a:avLst/>
          </a:prstGeom>
          <a:noFill/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"/>
          <p:cNvSpPr/>
          <p:nvPr/>
        </p:nvSpPr>
        <p:spPr>
          <a:xfrm>
            <a:off x="10607040" y="3703320"/>
            <a:ext cx="320040" cy="320040"/>
          </a:xfrm>
          <a:prstGeom prst="ellipse">
            <a:avLst/>
          </a:prstGeom>
          <a:solidFill>
            <a:srgbClr val="C01718"/>
          </a:solidFill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"/>
          <p:cNvSpPr/>
          <p:nvPr/>
        </p:nvSpPr>
        <p:spPr>
          <a:xfrm>
            <a:off x="10972800" y="3703320"/>
            <a:ext cx="320040" cy="320040"/>
          </a:xfrm>
          <a:prstGeom prst="ellipse">
            <a:avLst/>
          </a:prstGeom>
          <a:solidFill>
            <a:srgbClr val="EC952E"/>
          </a:solidFill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"/>
          <p:cNvSpPr/>
          <p:nvPr/>
        </p:nvSpPr>
        <p:spPr>
          <a:xfrm>
            <a:off x="10607040" y="4160520"/>
            <a:ext cx="320040" cy="320040"/>
          </a:xfrm>
          <a:prstGeom prst="ellipse">
            <a:avLst/>
          </a:prstGeom>
          <a:solidFill>
            <a:srgbClr val="8B1010"/>
          </a:solidFill>
          <a:ln w="25400">
            <a:solidFill>
              <a:srgbClr val="EC95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"/>
          <p:cNvSpPr/>
          <p:nvPr/>
        </p:nvSpPr>
        <p:spPr>
          <a:xfrm>
            <a:off x="658368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"/>
          <p:cNvSpPr txBox="1"/>
          <p:nvPr/>
        </p:nvSpPr>
        <p:spPr>
          <a:xfrm>
            <a:off x="658368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1</a:t>
            </a:r>
          </a:p>
        </p:txBody>
      </p:sp>
      <p:sp>
        <p:nvSpPr>
          <p:cNvPr id="37" name=""/>
          <p:cNvSpPr txBox="1"/>
          <p:nvPr/>
        </p:nvSpPr>
        <p:spPr>
          <a:xfrm>
            <a:off x="688543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saco de padaria</a:t>
            </a:r>
          </a:p>
        </p:txBody>
      </p:sp>
      <p:sp>
        <p:nvSpPr>
          <p:cNvPr id="38" name=""/>
          <p:cNvSpPr/>
          <p:nvPr/>
        </p:nvSpPr>
        <p:spPr>
          <a:xfrm>
            <a:off x="822960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"/>
          <p:cNvSpPr txBox="1"/>
          <p:nvPr/>
        </p:nvSpPr>
        <p:spPr>
          <a:xfrm>
            <a:off x="822960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2</a:t>
            </a:r>
          </a:p>
        </p:txBody>
      </p:sp>
      <p:sp>
        <p:nvSpPr>
          <p:cNvPr id="40" name=""/>
          <p:cNvSpPr txBox="1"/>
          <p:nvPr/>
        </p:nvSpPr>
        <p:spPr>
          <a:xfrm>
            <a:off x="853135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etiqueta à mão</a:t>
            </a:r>
          </a:p>
        </p:txBody>
      </p:sp>
      <p:sp>
        <p:nvSpPr>
          <p:cNvPr id="41" name=""/>
          <p:cNvSpPr/>
          <p:nvPr/>
        </p:nvSpPr>
        <p:spPr>
          <a:xfrm>
            <a:off x="9966960" y="5212080"/>
            <a:ext cx="274320" cy="274320"/>
          </a:xfrm>
          <a:prstGeom prst="ellipse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"/>
          <p:cNvSpPr txBox="1"/>
          <p:nvPr/>
        </p:nvSpPr>
        <p:spPr>
          <a:xfrm>
            <a:off x="9966960" y="521208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Bebas Neue"/>
              </a:rPr>
              <a:t>3</a:t>
            </a:r>
          </a:p>
        </p:txBody>
      </p:sp>
      <p:sp>
        <p:nvSpPr>
          <p:cNvPr id="43" name=""/>
          <p:cNvSpPr txBox="1"/>
          <p:nvPr/>
        </p:nvSpPr>
        <p:spPr>
          <a:xfrm>
            <a:off x="10268712" y="5193792"/>
            <a:ext cx="155448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B1010"/>
                </a:solidFill>
                <a:latin typeface="DM Sans"/>
              </a:rPr>
              <a:t>passaporte</a:t>
            </a:r>
          </a:p>
        </p:txBody>
      </p:sp>
      <p:sp>
        <p:nvSpPr>
          <p:cNvPr id="44" name=""/>
          <p:cNvSpPr txBox="1"/>
          <p:nvPr/>
        </p:nvSpPr>
        <p:spPr>
          <a:xfrm>
            <a:off x="6309360" y="58978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Desenho ilustrativo; medidas validadas com uma amostra do pacote.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0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C95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C952E"/>
                </a:solidFill>
                <a:latin typeface="DM Sans"/>
              </a:rPr>
              <a:t>A RECOMENDAÇÃO DA MOVE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822960"/>
            <a:ext cx="109728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0">
                <a:solidFill>
                  <a:srgbClr val="FFFFFF"/>
                </a:solidFill>
                <a:latin typeface="Bebas Neue"/>
              </a:rPr>
              <a:t>“QUAL É O SEU LADO?” PARA OS 40, COM A HARMONIZAÇÃO PARA O GRUPO DE APERITIVO</a:t>
            </a:r>
          </a:p>
        </p:txBody>
      </p:sp>
      <p:sp>
        <p:nvSpPr>
          <p:cNvPr id="5" name=""/>
          <p:cNvSpPr/>
          <p:nvPr/>
        </p:nvSpPr>
        <p:spPr>
          <a:xfrm>
            <a:off x="640080" y="3291840"/>
            <a:ext cx="3474720" cy="2286000"/>
          </a:xfrm>
          <a:prstGeom prst="roundRect">
            <a:avLst>
              <a:gd name="" fmla="val 6000"/>
            </a:avLst>
          </a:prstGeom>
          <a:solidFill>
            <a:srgbClr val="A52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"/>
          <p:cNvSpPr txBox="1"/>
          <p:nvPr/>
        </p:nvSpPr>
        <p:spPr>
          <a:xfrm>
            <a:off x="914400" y="347472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C952E"/>
                </a:solidFill>
                <a:latin typeface="Bebas Neue"/>
              </a:rPr>
              <a:t>BASE PARA TODOS</a:t>
            </a:r>
          </a:p>
        </p:txBody>
      </p:sp>
      <p:sp>
        <p:nvSpPr>
          <p:cNvPr id="7" name=""/>
          <p:cNvSpPr txBox="1"/>
          <p:nvPr/>
        </p:nvSpPr>
        <p:spPr>
          <a:xfrm>
            <a:off x="914400" y="402336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Caixa de dois lados: tem a cara da marca e foi pensada para gerar enquete nos stories.</a:t>
            </a:r>
          </a:p>
        </p:txBody>
      </p:sp>
      <p:sp>
        <p:nvSpPr>
          <p:cNvPr id="8" name=""/>
          <p:cNvSpPr/>
          <p:nvPr/>
        </p:nvSpPr>
        <p:spPr>
          <a:xfrm>
            <a:off x="4389120" y="3291840"/>
            <a:ext cx="3474720" cy="2286000"/>
          </a:xfrm>
          <a:prstGeom prst="roundRect">
            <a:avLst>
              <a:gd name="" fmla="val 6000"/>
            </a:avLst>
          </a:prstGeom>
          <a:solidFill>
            <a:srgbClr val="A52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"/>
          <p:cNvSpPr txBox="1"/>
          <p:nvPr/>
        </p:nvSpPr>
        <p:spPr>
          <a:xfrm>
            <a:off x="4663440" y="347472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C952E"/>
                </a:solidFill>
                <a:latin typeface="Bebas Neue"/>
              </a:rPr>
              <a:t>EXTRA PARA 12</a:t>
            </a:r>
          </a:p>
        </p:txBody>
      </p:sp>
      <p:sp>
        <p:nvSpPr>
          <p:cNvPr id="10" name=""/>
          <p:cNvSpPr txBox="1"/>
          <p:nvPr/>
        </p:nvSpPr>
        <p:spPr>
          <a:xfrm>
            <a:off x="4663440" y="402336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O cartão de harmonização do kit 02 vai para o grupo de aperitivo e gastronomia.</a:t>
            </a:r>
          </a:p>
        </p:txBody>
      </p:sp>
      <p:sp>
        <p:nvSpPr>
          <p:cNvPr id="11" name=""/>
          <p:cNvSpPr/>
          <p:nvPr/>
        </p:nvSpPr>
        <p:spPr>
          <a:xfrm>
            <a:off x="8138159" y="3291840"/>
            <a:ext cx="3474720" cy="2286000"/>
          </a:xfrm>
          <a:prstGeom prst="roundRect">
            <a:avLst>
              <a:gd name="" fmla="val 6000"/>
            </a:avLst>
          </a:prstGeom>
          <a:solidFill>
            <a:srgbClr val="A52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"/>
          <p:cNvSpPr txBox="1"/>
          <p:nvPr/>
        </p:nvSpPr>
        <p:spPr>
          <a:xfrm>
            <a:off x="8412480" y="347472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C952E"/>
                </a:solidFill>
                <a:latin typeface="Bebas Neue"/>
              </a:rPr>
              <a:t>SEM CUSTO EXTRA</a:t>
            </a:r>
          </a:p>
        </p:txBody>
      </p:sp>
      <p:sp>
        <p:nvSpPr>
          <p:cNvPr id="13" name=""/>
          <p:cNvSpPr txBox="1"/>
          <p:nvPr/>
        </p:nvSpPr>
        <p:spPr>
          <a:xfrm>
            <a:off x="8412480" y="4023360"/>
            <a:ext cx="29260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Tudo dentro do investimento aprovado de R$ 14.000.</a:t>
            </a:r>
          </a:p>
        </p:txBody>
      </p:sp>
      <p:sp>
        <p:nvSpPr>
          <p:cNvPr id="14" name="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FFFFF"/>
                </a:solidFill>
                <a:latin typeface="DM Sans"/>
              </a:rPr>
              <a:t>movementme · Se não move, não muda.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PRODUÇÃO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Onde os kits são feitos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15</a:t>
            </a:r>
          </a:p>
        </p:txBody>
      </p:sp>
      <p:sp>
        <p:nvSpPr>
          <p:cNvPr id="7" name=""/>
          <p:cNvSpPr/>
          <p:nvPr/>
        </p:nvSpPr>
        <p:spPr>
          <a:xfrm>
            <a:off x="640080" y="1737360"/>
            <a:ext cx="3474720" cy="3566160"/>
          </a:xfrm>
          <a:prstGeom prst="roundRect">
            <a:avLst>
              <a:gd name="" fmla="val 6000"/>
            </a:avLst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CAIXAS</a:t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22860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ROSA MORENA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2971800"/>
            <a:ext cx="2926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Fornecedora que já produz as caixas de seeding da Aurora: conhece o padrão, emite a nota direto para a Aurora e fica em São Paulo.</a:t>
            </a:r>
          </a:p>
        </p:txBody>
      </p:sp>
      <p:sp>
        <p:nvSpPr>
          <p:cNvPr id="11" name=""/>
          <p:cNvSpPr/>
          <p:nvPr/>
        </p:nvSpPr>
        <p:spPr>
          <a:xfrm>
            <a:off x="4389120" y="1737360"/>
            <a:ext cx="3474720" cy="3566160"/>
          </a:xfrm>
          <a:prstGeom prst="roundRect">
            <a:avLst>
              <a:gd name="" fmla="val 6000"/>
            </a:avLst>
          </a:prstGeom>
          <a:solidFill>
            <a:srgbClr val="F25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"/>
          <p:cNvSpPr txBox="1"/>
          <p:nvPr/>
        </p:nvSpPr>
        <p:spPr>
          <a:xfrm>
            <a:off x="4663440" y="19202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IMPRESSOS</a:t>
            </a:r>
          </a:p>
        </p:txBody>
      </p:sp>
      <p:sp>
        <p:nvSpPr>
          <p:cNvPr id="13" name=""/>
          <p:cNvSpPr txBox="1"/>
          <p:nvPr/>
        </p:nvSpPr>
        <p:spPr>
          <a:xfrm>
            <a:off x="4663440" y="22860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GRÁFICA PARCEIRA</a:t>
            </a:r>
          </a:p>
        </p:txBody>
      </p:sp>
      <p:sp>
        <p:nvSpPr>
          <p:cNvPr id="14" name=""/>
          <p:cNvSpPr txBox="1"/>
          <p:nvPr/>
        </p:nvSpPr>
        <p:spPr>
          <a:xfrm>
            <a:off x="4663440" y="2971800"/>
            <a:ext cx="2926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Cartinha em papel 170 g, cartão de harmonização e etiquetas, na gráfica que já imprime os seedings da MOVE.</a:t>
            </a:r>
          </a:p>
        </p:txBody>
      </p:sp>
      <p:sp>
        <p:nvSpPr>
          <p:cNvPr id="15" name=""/>
          <p:cNvSpPr/>
          <p:nvPr/>
        </p:nvSpPr>
        <p:spPr>
          <a:xfrm>
            <a:off x="8138159" y="1737360"/>
            <a:ext cx="3474720" cy="3566160"/>
          </a:xfrm>
          <a:prstGeom prst="roundRect">
            <a:avLst>
              <a:gd name="" fmla="val 6000"/>
            </a:avLst>
          </a:prstGeom>
          <a:solidFill>
            <a:srgbClr val="6D87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DM Sans"/>
              </a:rPr>
              <a:t>MONTAGEM E ENVIO</a:t>
            </a:r>
          </a:p>
        </p:txBody>
      </p:sp>
      <p:sp>
        <p:nvSpPr>
          <p:cNvPr id="17" name="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Bebas Neue"/>
              </a:rPr>
              <a:t>NA MOVE</a:t>
            </a:r>
          </a:p>
        </p:txBody>
      </p:sp>
      <p:sp>
        <p:nvSpPr>
          <p:cNvPr id="18" name=""/>
          <p:cNvSpPr txBox="1"/>
          <p:nvPr/>
        </p:nvSpPr>
        <p:spPr>
          <a:xfrm>
            <a:off x="8412480" y="2971800"/>
            <a:ext cx="292608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DM Sans"/>
              </a:rPr>
              <a:t>Montagem um a um no escritório da MOVE, em São Paulo. Envio pelos Correios com código de rastreio, conferido envio a envio.</a:t>
            </a:r>
          </a:p>
        </p:txBody>
      </p:sp>
      <p:sp>
        <p:nvSpPr>
          <p:cNvPr id="19" name="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4A4A"/>
                </a:solidFill>
                <a:latin typeface="DM Sans"/>
              </a:rPr>
              <a:t>Itens extras dos kits 02, 03 e 05 (tábua, guardanapo, carimbo) entram em cotação com a Rosa Morena e com mais duas opções, para comparar preço e prazo.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B10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5A1B"/>
                </a:solidFill>
                <a:latin typeface="DM Sans"/>
              </a:rPr>
              <a:t>PRÓXIMOS PASSOS</a:t>
            </a:r>
          </a:p>
        </p:txBody>
      </p:sp>
      <p:sp>
        <p:nvSpPr>
          <p:cNvPr id="4" name="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>
                <a:solidFill>
                  <a:srgbClr val="8B1010"/>
                </a:solidFill>
                <a:latin typeface="Bebas Neue"/>
              </a:rPr>
              <a:t>Para alinharmos antes de executar</a:t>
            </a:r>
          </a:p>
        </p:txBody>
      </p:sp>
      <p:sp>
        <p:nvSpPr>
          <p:cNvPr id="5" name="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movementme · Bruschettas Maretti · Seeding orgânico</a:t>
            </a:r>
          </a:p>
        </p:txBody>
      </p:sp>
      <p:sp>
        <p:nvSpPr>
          <p:cNvPr id="6" name="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4A4A"/>
                </a:solidFill>
                <a:latin typeface="DM Sans"/>
              </a:rPr>
              <a:t>16</a:t>
            </a:r>
          </a:p>
        </p:txBody>
      </p:sp>
      <p:sp>
        <p:nvSpPr>
          <p:cNvPr id="7" name=""/>
          <p:cNvSpPr txBox="1"/>
          <p:nvPr/>
        </p:nvSpPr>
        <p:spPr>
          <a:xfrm>
            <a:off x="640080" y="16916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25A1B"/>
                </a:solidFill>
                <a:latin typeface="Bebas Neue"/>
              </a:rPr>
              <a:t>PARA DEFINIRMOS JUNTOS</a:t>
            </a:r>
          </a:p>
        </p:txBody>
      </p:sp>
      <p:sp>
        <p:nvSpPr>
          <p:cNvPr id="8" name="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25A1B"/>
                </a:solidFill>
                <a:latin typeface="Bebas Neue"/>
              </a:rPr>
              <a:t>PARA COMEÇARMOS</a:t>
            </a:r>
          </a:p>
        </p:txBody>
      </p:sp>
      <p:sp>
        <p:nvSpPr>
          <p:cNvPr id="9" name=""/>
          <p:cNvSpPr txBox="1"/>
          <p:nvPr/>
        </p:nvSpPr>
        <p:spPr>
          <a:xfrm>
            <a:off x="640080" y="214884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1. Objetivo da campanha: </a:t>
            </a:r>
            <a:r>
              <a:rPr sz="1500" b="0">
                <a:solidFill>
                  <a:srgbClr val="8B1010"/>
                </a:solidFill>
                <a:latin typeface="DM Sans"/>
              </a:rPr>
              <a:t>conhecimento de marca, venda em varejistas específicos ou entrada em novos pontos de venda?</a:t>
            </a:r>
          </a:p>
        </p:txBody>
      </p:sp>
      <p:sp>
        <p:nvSpPr>
          <p:cNvPr id="10" name=""/>
          <p:cNvSpPr txBox="1"/>
          <p:nvPr/>
        </p:nvSpPr>
        <p:spPr>
          <a:xfrm>
            <a:off x="640080" y="310896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2. Destino do QR code: </a:t>
            </a:r>
            <a:r>
              <a:rPr sz="1500" b="0">
                <a:solidFill>
                  <a:srgbClr val="8B1010"/>
                </a:solidFill>
                <a:latin typeface="DM Sans"/>
              </a:rPr>
              <a:t>a página das Bruschettas Maretti no site da Aurora, a Amazon ou um varejista parceiro?</a:t>
            </a:r>
          </a:p>
        </p:txBody>
      </p:sp>
      <p:sp>
        <p:nvSpPr>
          <p:cNvPr id="11" name=""/>
          <p:cNvSpPr txBox="1"/>
          <p:nvPr/>
        </p:nvSpPr>
        <p:spPr>
          <a:xfrm>
            <a:off x="640080" y="406908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3. Perfil para marcação: </a:t>
            </a:r>
            <a:r>
              <a:rPr sz="1500" b="0">
                <a:solidFill>
                  <a:srgbClr val="8B1010"/>
                </a:solidFill>
                <a:latin typeface="DM Sans"/>
              </a:rPr>
              <a:t>o perfil global da Maretti, o @aurorafinebrands ou outro?</a:t>
            </a:r>
          </a:p>
        </p:txBody>
      </p:sp>
      <p:sp>
        <p:nvSpPr>
          <p:cNvPr id="12" name=""/>
          <p:cNvSpPr txBox="1"/>
          <p:nvPr/>
        </p:nvSpPr>
        <p:spPr>
          <a:xfrm>
            <a:off x="640080" y="502920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4. Onde o produto está: </a:t>
            </a:r>
            <a:r>
              <a:rPr sz="1500" b="0">
                <a:solidFill>
                  <a:srgbClr val="8B1010"/>
                </a:solidFill>
                <a:latin typeface="DM Sans"/>
              </a:rPr>
              <a:t>redes e regiões com estoque, para priorizar creators dessas praças.</a:t>
            </a:r>
          </a:p>
        </p:txBody>
      </p:sp>
      <p:sp>
        <p:nvSpPr>
          <p:cNvPr id="13" name=""/>
          <p:cNvSpPr txBox="1"/>
          <p:nvPr/>
        </p:nvSpPr>
        <p:spPr>
          <a:xfrm>
            <a:off x="6309360" y="214884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1. Aprovação: </a:t>
            </a:r>
            <a:r>
              <a:rPr sz="1500" b="0">
                <a:solidFill>
                  <a:srgbClr val="8B1010"/>
                </a:solidFill>
                <a:latin typeface="DM Sans"/>
              </a:rPr>
              <a:t>mailing e caminho de press kit.</a:t>
            </a:r>
          </a:p>
        </p:txBody>
      </p:sp>
      <p:sp>
        <p:nvSpPr>
          <p:cNvPr id="14" name=""/>
          <p:cNvSpPr txBox="1"/>
          <p:nvPr/>
        </p:nvSpPr>
        <p:spPr>
          <a:xfrm>
            <a:off x="6309360" y="310896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2. Brandbook: </a:t>
            </a:r>
            <a:r>
              <a:rPr sz="1500" b="0">
                <a:solidFill>
                  <a:srgbClr val="8B1010"/>
                </a:solidFill>
                <a:latin typeface="DM Sans"/>
              </a:rPr>
              <a:t>logos, cores, tipografia e tom de voz da Maretti.</a:t>
            </a:r>
          </a:p>
        </p:txBody>
      </p:sp>
      <p:sp>
        <p:nvSpPr>
          <p:cNvPr id="15" name=""/>
          <p:cNvSpPr txBox="1"/>
          <p:nvPr/>
        </p:nvSpPr>
        <p:spPr>
          <a:xfrm>
            <a:off x="6309360" y="406908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3. SKUs: </a:t>
            </a:r>
            <a:r>
              <a:rPr sz="1500" b="0">
                <a:solidFill>
                  <a:srgbClr val="8B1010"/>
                </a:solidFill>
                <a:latin typeface="DM Sans"/>
              </a:rPr>
              <a:t>confirmação dos seis sabores de 85 g: 240 pacotes, mais reserva.</a:t>
            </a:r>
          </a:p>
        </p:txBody>
      </p:sp>
      <p:sp>
        <p:nvSpPr>
          <p:cNvPr id="16" name=""/>
          <p:cNvSpPr txBox="1"/>
          <p:nvPr/>
        </p:nvSpPr>
        <p:spPr>
          <a:xfrm>
            <a:off x="6309360" y="5029200"/>
            <a:ext cx="53949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B1010"/>
                </a:solidFill>
                <a:latin typeface="DM Sans"/>
              </a:rPr>
              <a:t>4. OK para executar: </a:t>
            </a:r>
            <a:r>
              <a:rPr sz="1500" b="0">
                <a:solidFill>
                  <a:srgbClr val="8B1010"/>
                </a:solidFill>
                <a:latin typeface="DM Sans"/>
              </a:rPr>
              <a:t>pedido das caixas e contato com os creators.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