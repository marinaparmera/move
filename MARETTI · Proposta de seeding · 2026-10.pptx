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010"/>
        </a:solidFill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138160" y="-548640"/>
            <a:ext cx="4754880" cy="4754880"/>
          </a:xfrm>
          <a:prstGeom prst="ellipse">
            <a:avLst/>
          </a:prstGeom>
          <a:solidFill>
            <a:srgbClr val="EC9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3108960"/>
            <a:ext cx="3108960" cy="3108960"/>
          </a:xfrm>
          <a:prstGeom prst="ellipse">
            <a:avLst/>
          </a:prstGeom>
          <a:solidFill>
            <a:srgbClr val="F25A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C952E"/>
                </a:solidFill>
                <a:latin typeface="DM Sans"/>
              </a:rPr>
              <a:t>MOVE PARA AURORA · OUTUBRO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77724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0000"/>
              </a:lnSpc>
            </a:pPr>
            <a:r>
              <a:rPr sz="9600" b="0">
                <a:solidFill>
                  <a:srgbClr val="FFFFFF"/>
                </a:solidFill>
                <a:latin typeface="Bebas Neue"/>
              </a:rPr>
              <a:t>BRUSCHETTAS</a:t>
            </a:r>
          </a:p>
          <a:p>
            <a:pPr algn="l">
              <a:lnSpc>
                <a:spcPct val="90000"/>
              </a:lnSpc>
            </a:pPr>
            <a:r>
              <a:rPr sz="9600" b="0">
                <a:solidFill>
                  <a:srgbClr val="FFFFFF"/>
                </a:solidFill>
                <a:latin typeface="Bebas Neue"/>
              </a:rPr>
              <a:t>MARETTI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69494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DM Sans"/>
              </a:rPr>
              <a:t>Seeding orgânico com 40 creators: mailing, cinco caminhos de press kit e próximos passos para aprovação.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DM Sans"/>
              </a:rPr>
              <a:t>movementme  ·  Se não move, não muda.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Um presente da marca, não publicidade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474720" cy="2926080"/>
          </a:xfrm>
          <a:prstGeom prst="roundRect">
            <a:avLst>
              <a:gd name="adj" fmla="val 8000"/>
            </a:avLst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2148840"/>
            <a:ext cx="29260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0">
                <a:solidFill>
                  <a:srgbClr val="FFFFFF"/>
                </a:solidFill>
                <a:latin typeface="Bebas Neue"/>
              </a:rPr>
              <a:t>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3657600"/>
            <a:ext cx="2834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FFFFFF"/>
                </a:solidFill>
                <a:latin typeface="DM Sans"/>
              </a:rPr>
              <a:t>creators que já receberam seeding pela MOVE e já postaram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011680"/>
            <a:ext cx="3474720" cy="2926080"/>
          </a:xfrm>
          <a:prstGeom prst="roundRect">
            <a:avLst>
              <a:gd name="adj" fmla="val 8000"/>
            </a:avLst>
          </a:prstGeom>
          <a:solidFill>
            <a:srgbClr val="F25A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2148840"/>
            <a:ext cx="29260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0">
                <a:solidFill>
                  <a:srgbClr val="FFFFFF"/>
                </a:solidFill>
                <a:latin typeface="Bebas Neue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3657600"/>
            <a:ext cx="2834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FFFFFF"/>
                </a:solidFill>
                <a:latin typeface="DM Sans"/>
              </a:rPr>
              <a:t>sabores de Bruschettas Maretti (85 g) em cada kit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011680"/>
            <a:ext cx="3474720" cy="2926080"/>
          </a:xfrm>
          <a:prstGeom prst="roundRect">
            <a:avLst>
              <a:gd name="adj" fmla="val 8000"/>
            </a:avLst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199" y="2148840"/>
            <a:ext cx="29260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0">
                <a:solidFill>
                  <a:srgbClr val="FFFFFF"/>
                </a:solidFill>
                <a:latin typeface="Bebas Neue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199" y="3657600"/>
            <a:ext cx="2834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FFFFFF"/>
                </a:solidFill>
                <a:latin typeface="DM Sans"/>
              </a:rPr>
              <a:t>semanas, da aprovação ao relatório final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4924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A4A4A"/>
                </a:solidFill>
                <a:latin typeface="DM Sans"/>
              </a:rPr>
              <a:t>Sem contrato, sem cachê e sem obrigação de postar. O investimento aprovado (R$ 14.000) cobre operação, kit e frete; o produto é fornecido pela Aurora.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QUEM CONSOME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O aperitivo de quem recebe bem em casa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67665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B1010"/>
                </a:solidFill>
                <a:latin typeface="DM Sans"/>
              </a:rPr>
              <a:t>Quem: </a:t>
            </a:r>
            <a:r>
              <a:rPr sz="1700" b="0">
                <a:solidFill>
                  <a:srgbClr val="8B1010"/>
                </a:solidFill>
                <a:latin typeface="DM Sans"/>
              </a:rPr>
              <a:t>mulheres de 25 a 45 anos, classes A e B, em capitais, com SP e RJ à frente.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67665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B1010"/>
                </a:solidFill>
                <a:latin typeface="DM Sans"/>
              </a:rPr>
              <a:t>Onde compra: </a:t>
            </a:r>
            <a:r>
              <a:rPr sz="1700" b="0">
                <a:solidFill>
                  <a:srgbClr val="8B1010"/>
                </a:solidFill>
                <a:latin typeface="DM Sans"/>
              </a:rPr>
              <a:t>empórios, supermercados premium e Amazon, onde a marca já tem anúncio vendido pela própria Amazon.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49039"/>
            <a:ext cx="67665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B1010"/>
                </a:solidFill>
                <a:latin typeface="DM Sans"/>
              </a:rPr>
              <a:t>Quando: </a:t>
            </a:r>
            <a:r>
              <a:rPr sz="1700" b="0">
                <a:solidFill>
                  <a:srgbClr val="8B1010"/>
                </a:solidFill>
                <a:latin typeface="DM Sans"/>
              </a:rPr>
              <a:t>tábua de frios com vinho, happy hour em casa, piquenique e viagem.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09160"/>
            <a:ext cx="67665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B1010"/>
                </a:solidFill>
                <a:latin typeface="DM Sans"/>
              </a:rPr>
              <a:t>O que valoriza: </a:t>
            </a:r>
            <a:r>
              <a:rPr sz="1700" b="0">
                <a:solidFill>
                  <a:srgbClr val="8B1010"/>
                </a:solidFill>
                <a:latin typeface="DM Sans"/>
              </a:rPr>
              <a:t>produto importado, pão de verdade, ingredientes de origem natural.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828800"/>
            <a:ext cx="3749039" cy="3931920"/>
          </a:xfrm>
          <a:prstGeom prst="roundRect">
            <a:avLst>
              <a:gd name="adj" fmla="val 6000"/>
            </a:avLst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0" y="201168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C952E"/>
                </a:solidFill>
                <a:latin typeface="Bebas Neue"/>
              </a:rPr>
              <a:t>O DIFERENCIAL NA PRATELEIRA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606040"/>
            <a:ext cx="329184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DM Sans"/>
              </a:rPr>
              <a:t>O pão chips de supermercado custa cerca de R$ 7 e tem um sabor.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DM Sans"/>
              </a:rPr>
              <a:t>As Bruschettas Maretti custam de R$ 11 a R$ 18 e têm seis.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DM Sans"/>
              </a:rPr>
              <a:t>O kit precisa mostrar variedade, origem europeia e o momento do aperitivo.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52160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4A4A"/>
                </a:solidFill>
                <a:latin typeface="DM Sans"/>
              </a:rPr>
              <a:t>Perfil estimado pela MOVE a partir de preço e canal de venda; não é pesquisa da marca.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A CURADORIA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Quem já postou, para máxima efetividade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8B1010"/>
                </a:solidFill>
                <a:latin typeface="DM Sans"/>
              </a:rPr>
              <a:t>Recomendamos começar por creators que já receberam seeding da MOVE, tiveram boa performance e publicaram. Todos os 40 nomes têm post confirmado em ações anteriores e endereço de envio na nossa base.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21945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>
                <a:solidFill>
                  <a:srgbClr val="FFFFFF"/>
                </a:solidFill>
                <a:latin typeface="Bebas Neue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977639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DM Sans"/>
              </a:rPr>
              <a:t>Aperitivo e gastronomia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63440"/>
            <a:ext cx="21945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DM Sans"/>
              </a:rPr>
              <a:t>As bruschettas na tábua, com queijo, vinho e pastinhas.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56432" y="274320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F25A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5032" y="2834640"/>
            <a:ext cx="21945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>
                <a:solidFill>
                  <a:srgbClr val="FFFFFF"/>
                </a:solidFill>
                <a:latin typeface="Bebas Neue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5032" y="3977639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DM Sans"/>
              </a:rPr>
              <a:t>Mesa posta e receber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4663440"/>
            <a:ext cx="21945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DM Sans"/>
              </a:rPr>
              <a:t>O aperitivo pronto e bonito para as visitas.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4" y="274320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4" y="2834640"/>
            <a:ext cx="21945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>
                <a:solidFill>
                  <a:srgbClr val="FFFFFF"/>
                </a:solidFill>
                <a:latin typeface="Bebas Neue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3977639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DM Sans"/>
              </a:rPr>
              <a:t>Casal e lifestyle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4663440"/>
            <a:ext cx="21945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DM Sans"/>
              </a:rPr>
              <a:t>O tom leve e bem-humorado da marca.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9136" y="2743200"/>
            <a:ext cx="2606040" cy="3108960"/>
          </a:xfrm>
          <a:prstGeom prst="roundRect">
            <a:avLst>
              <a:gd name="adj" fmla="val 6000"/>
            </a:avLst>
          </a:prstGeom>
          <a:solidFill>
            <a:srgbClr val="EC9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17736" y="2834640"/>
            <a:ext cx="21945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>
                <a:solidFill>
                  <a:srgbClr val="FFFFFF"/>
                </a:solidFill>
                <a:latin typeface="Bebas Neue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977639"/>
            <a:ext cx="21945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DM Sans"/>
              </a:rPr>
              <a:t>Piquenique e viagem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7736" y="4663440"/>
            <a:ext cx="21945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DM Sans"/>
              </a:rPr>
              <a:t>O snack de levar e dividir, fora de casa.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MAILING · 1 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Aperitivo, gastronomia e mesa 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5349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051560"/>
                <a:gridCol w="82296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Perfil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Seguidores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Eng.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Posts com a MOVE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@izabeladolabela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350,3k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1,18%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4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@natkoch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315k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2,65%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@menujouet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23,3k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9,34%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@kaoryeats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298,8k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6,55%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@_boracomerbem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76,5k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3,46%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@graziaazevedoo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141,6k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7,38%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@letsmil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60,3k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8,16%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@lauratavaresf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120,6k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2,82%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@luizamaffort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247,8k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2,92%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@flavdell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395,6k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3,3%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@nathalia.pianaro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145,9k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1,68%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00200"/>
          <a:ext cx="5349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051560"/>
                <a:gridCol w="82296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Perfil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Seguidores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Eng.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Posts com a MOVE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@isabellacavalheiro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58,4k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2,23%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@amandferrari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106,8k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3,58%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@giselleboacnin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32,3k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@elisabax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49,6k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1,64%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@palomavoi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46,3k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1,71%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@marina_xando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132k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1,46%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@lu_bacchi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248,6k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1,56%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@fogaovermelho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72,4k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1,63%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@rafaelagb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243,3k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1,41%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@mesabemdita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246k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7,67%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@nathaliaccorrea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73,3k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1,96%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4A4A"/>
                </a:solidFill>
                <a:latin typeface="DM Sans"/>
              </a:rPr>
              <a:t>Aperitivo e gastronomia: os 12 primeiros. Mesa posta e receber: os 10 seguintes. Métricas da data do último mailing; atualizamos antes do contato.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MAILING · 2 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Casal, lifestyle, piquenique e viagem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5349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051560"/>
                <a:gridCol w="82296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Perfil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Seguidores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Eng.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Posts com a MOVE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@itsemilydiary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23,5k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15,75%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@mariaclarafaa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59k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1,54%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@juliajungerr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82,9k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1,60%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@lifewtsarah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10,5k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55,94%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@bguilobo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338,7k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3,52%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@buby_pinheiro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55,2k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2,59%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@helenamarquessb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51k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2,75%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@natibrisolla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50,4k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4,24%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@bia.liraa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144k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4,63%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7920" y="1600200"/>
          <a:ext cx="5349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051560"/>
                <a:gridCol w="82296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Perfil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Seguidores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Eng.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DM Sans"/>
                        </a:rPr>
                        <a:t>Posts com a MOVE</a:t>
                      </a:r>
                    </a:p>
                  </a:txBody>
                  <a:tcPr marT="18288" marB="18288">
                    <a:solidFill>
                      <a:srgbClr val="8B101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@renataporto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162k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1,53%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@gipelife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13,1k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31,09%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@braynersof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17,2k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15,88%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@barretovs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95,1k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1,89%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@bruna_maartiins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47,8k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1,96%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@larissaluzc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179,9k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6,15%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@dinamichi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367,9k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6,47%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@alarakaroline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45,8k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3,65%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@isacadore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17,8k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4,71%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8B1010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BF3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A4A4A"/>
                </a:solidFill>
                <a:latin typeface="DM Sans"/>
              </a:rPr>
              <a:t>Casal e lifestyle: os 10 primeiros. Piquenique e viagem: os 8 seguintes. Métricas da data do último mailing; atualizamos antes do contato.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PRESS KIT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Cinco caminhos para a caixa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7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691640"/>
            <a:ext cx="731520" cy="731520"/>
          </a:xfrm>
          <a:prstGeom prst="ellipse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7315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Bebas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9164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8B1010"/>
                </a:solidFill>
                <a:latin typeface="Bebas Neue"/>
              </a:rPr>
              <a:t>QUAL É O SEU LADO?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91640"/>
            <a:ext cx="69494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4A4A"/>
                </a:solidFill>
                <a:latin typeface="DM Sans"/>
              </a:rPr>
              <a:t>Caixa que abre pelos dois lados, traduzindo o slogan “Two sides of taste”. De um lado os sabores suaves, do outro os ousados. A cartinha pergunta: “Você é do lado suave ou do lado ousado?”.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2560320"/>
            <a:ext cx="731520" cy="731520"/>
          </a:xfrm>
          <a:prstGeom prst="ellipse">
            <a:avLst/>
          </a:prstGeom>
          <a:solidFill>
            <a:srgbClr val="F25A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39"/>
            <a:ext cx="7315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Bebas Neue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6032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8B1010"/>
                </a:solidFill>
                <a:latin typeface="Bebas Neue"/>
              </a:rPr>
              <a:t>TÁBUA PRONTA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60320"/>
            <a:ext cx="69494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4A4A"/>
                </a:solidFill>
                <a:latin typeface="DM Sans"/>
              </a:rPr>
              <a:t>Tabuinha de bambu com os seis sabores e um cartão de harmonização: o queijo, a pastinha e o vinho que combinam com cada um. O creator monta a tábua no Reels.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429000"/>
            <a:ext cx="731520" cy="731520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7315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Bebas Neu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42900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8B1010"/>
                </a:solidFill>
                <a:latin typeface="Bebas Neue"/>
              </a:rPr>
              <a:t>PIQUENIQUE AO PÔR DO 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29000"/>
            <a:ext cx="69494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4A4A"/>
                </a:solidFill>
                <a:latin typeface="DM Sans"/>
              </a:rPr>
              <a:t>Sacola kraft com guardanapo xadrez e QR code para a playlist “Sunset Picnic Maretti”, no mesmo clima do conteúdo oficial da marca.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4297679"/>
            <a:ext cx="731520" cy="731520"/>
          </a:xfrm>
          <a:prstGeom prst="ellipse">
            <a:avLst/>
          </a:prstGeom>
          <a:solidFill>
            <a:srgbClr val="EC9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343399"/>
            <a:ext cx="7315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Bebas Neue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297679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8B1010"/>
                </a:solidFill>
                <a:latin typeface="Bebas Neue"/>
              </a:rPr>
              <a:t>TESTE ÀS CEGAS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297679"/>
            <a:ext cx="69494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4A4A"/>
                </a:solidFill>
                <a:latin typeface="DM Sans"/>
              </a:rPr>
              <a:t>Seis envelopes numerados, sem revelar o sabor, com gabarito lacrado. O desafio: acertar os seis sabores e contar nos stories.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5166360"/>
            <a:ext cx="731520" cy="731520"/>
          </a:xfrm>
          <a:prstGeom prst="ellipse">
            <a:avLst/>
          </a:prstGeom>
          <a:solidFill>
            <a:srgbClr val="C0171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212080"/>
            <a:ext cx="7315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Bebas Neue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16636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8B1010"/>
                </a:solidFill>
                <a:latin typeface="Bebas Neue"/>
              </a:rPr>
              <a:t>DIRETO DA PADARIA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166360"/>
            <a:ext cx="694944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4A4A"/>
                </a:solidFill>
                <a:latin typeface="DM Sans"/>
              </a:rPr>
              <a:t>Embalagem de saco de padaria com carimbo “Maretti Bakery” e etiqueta escrita à mão, reforçando o pão de verdade feito de forma artesanal.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PRESS KIT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Qual é o seu lado?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949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1010"/>
                </a:solidFill>
                <a:latin typeface="DM Sans"/>
              </a:rPr>
              <a:t>Caixa que abre pelos dois lados, traduzindo o slogan “Two sides of taste”. De um lado os sabores suaves, do outro os ousados. A cartinha pergunta: “Você é do lado suave ou do lado ousado?”.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5A1B"/>
                </a:solidFill>
                <a:latin typeface="Bebas Neue"/>
              </a:rPr>
              <a:t>NA CAIXA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53949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A4A4A"/>
                </a:solidFill>
                <a:latin typeface="DM Sans"/>
              </a:rPr>
              <a:t>Lado suave: cogumelos e creme, creme azedo e cebola, vegetais mediterrâneos. Lado ousado: salame pepperoni, alho tostado, tomate, azeitona e orégano.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49240"/>
            <a:ext cx="5394960" cy="502920"/>
          </a:xfrm>
          <a:prstGeom prst="roundRect">
            <a:avLst>
              <a:gd name="adj" fmla="val 50000"/>
            </a:avLst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376672"/>
            <a:ext cx="50292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DM Sans"/>
              </a:rPr>
              <a:t>Cabe na base de R$ 100 por kit · Recomendado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468880"/>
            <a:ext cx="1554480" cy="2194560"/>
          </a:xfrm>
          <a:prstGeom prst="roundRect">
            <a:avLst>
              <a:gd name="adj" fmla="val 5000"/>
            </a:avLst>
          </a:prstGeom>
          <a:solidFill>
            <a:srgbClr val="FBF3EA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20040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8B1010"/>
                </a:solidFill>
                <a:latin typeface="Bebas Neue"/>
              </a:rPr>
              <a:t>LADO</a:t>
            </a:r>
          </a:p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8B1010"/>
                </a:solidFill>
                <a:latin typeface="Bebas Neue"/>
              </a:rPr>
              <a:t>SUAVE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9840" y="2468880"/>
            <a:ext cx="1554480" cy="2194560"/>
          </a:xfrm>
          <a:prstGeom prst="roundRect">
            <a:avLst>
              <a:gd name="adj" fmla="val 5000"/>
            </a:avLst>
          </a:prstGeom>
          <a:solidFill>
            <a:srgbClr val="8B1010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0" y="320040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EC952E"/>
                </a:solidFill>
                <a:latin typeface="Bebas Neue"/>
              </a:rPr>
              <a:t>LADO</a:t>
            </a:r>
          </a:p>
          <a:p>
            <a:pPr algn="ctr">
              <a:lnSpc>
                <a:spcPct val="115000"/>
              </a:lnSpc>
            </a:pPr>
            <a:r>
              <a:rPr sz="2400" b="0">
                <a:solidFill>
                  <a:srgbClr val="EC952E"/>
                </a:solidFill>
                <a:latin typeface="Bebas Neue"/>
              </a:rPr>
              <a:t>OUSADO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2286000"/>
            <a:ext cx="1920240" cy="2560320"/>
          </a:xfrm>
          <a:prstGeom prst="rect">
            <a:avLst/>
          </a:prstGeom>
          <a:solidFill>
            <a:srgbClr val="FBF3EA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52560" y="2286000"/>
            <a:ext cx="960120" cy="2560320"/>
          </a:xfrm>
          <a:prstGeom prst="rect">
            <a:avLst/>
          </a:prstGeom>
          <a:solidFill>
            <a:srgbClr val="6D870A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59" y="242316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59" y="242316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1311" y="274320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800" y="242316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0" y="242316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759952" y="274320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80" y="3520439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0" y="3520439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85632" y="3840479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98280" y="242316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98280" y="242316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71432" y="274320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55480" y="242316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55480" y="242316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628632" y="274320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326880" y="3520439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326880" y="3520439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400032" y="3840479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49640" y="46177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C0171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4617720"/>
            <a:ext cx="100584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>
                <a:solidFill>
                  <a:srgbClr val="C01718"/>
                </a:solidFill>
                <a:latin typeface="Bebas Neue"/>
              </a:rPr>
              <a:t>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897880"/>
            <a:ext cx="5120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Desenho ilustrativo; medidas validadas com uma amostra do pacote.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PRESS KIT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Tábua pronta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949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1010"/>
                </a:solidFill>
                <a:latin typeface="DM Sans"/>
              </a:rPr>
              <a:t>Tabuinha de bambu com os seis sabores e um cartão de harmonização: o queijo, a pastinha e o vinho que combinam com cada um. O creator monta a tábua no Reels.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5A1B"/>
                </a:solidFill>
                <a:latin typeface="Bebas Neue"/>
              </a:rPr>
              <a:t>NA CAIXA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53949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A4A4A"/>
                </a:solidFill>
                <a:latin typeface="DM Sans"/>
              </a:rPr>
              <a:t>Tabuinha (cerca de 30 × 20 cm) · 6 sabores · cartão de harmonização · cartinha com QR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49240"/>
            <a:ext cx="5394960" cy="502920"/>
          </a:xfrm>
          <a:prstGeom prst="roundRect">
            <a:avLst>
              <a:gd name="adj" fmla="val 50000"/>
            </a:avLst>
          </a:prstGeom>
          <a:solidFill>
            <a:srgbClr val="EC9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376672"/>
            <a:ext cx="50292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DM Sans"/>
              </a:rPr>
              <a:t>Tábua soma cerca de R$ 20 a R$ 35 · a cotar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173736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931152" y="205740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0" y="173736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173736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62672" y="205740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21040" y="173736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21040" y="173736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94192" y="205740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0" y="173736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173736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25712" y="205740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784080" y="173736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173736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57232" y="205740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515600" y="173736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515600" y="173736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88752" y="205740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00800" y="3017520"/>
            <a:ext cx="5120640" cy="2103120"/>
          </a:xfrm>
          <a:prstGeom prst="roundRect">
            <a:avLst>
              <a:gd name="adj" fmla="val 15000"/>
            </a:avLst>
          </a:prstGeom>
          <a:solidFill>
            <a:srgbClr val="C99A62"/>
          </a:solidFill>
          <a:ln w="25400">
            <a:solidFill>
              <a:srgbClr val="8A5E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75120" y="3200400"/>
            <a:ext cx="502920" cy="320040"/>
          </a:xfrm>
          <a:prstGeom prst="roundRect">
            <a:avLst>
              <a:gd name="adj" fmla="val 40000"/>
            </a:avLst>
          </a:prstGeom>
          <a:solidFill>
            <a:srgbClr val="E3B66B"/>
          </a:solidFill>
          <a:ln w="25400">
            <a:solidFill>
              <a:srgbClr val="9C6B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15200" y="3200400"/>
            <a:ext cx="502920" cy="320040"/>
          </a:xfrm>
          <a:prstGeom prst="roundRect">
            <a:avLst>
              <a:gd name="adj" fmla="val 40000"/>
            </a:avLst>
          </a:prstGeom>
          <a:solidFill>
            <a:srgbClr val="E3B66B"/>
          </a:solidFill>
          <a:ln w="25400">
            <a:solidFill>
              <a:srgbClr val="9C6B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675120" y="3749039"/>
            <a:ext cx="502920" cy="320040"/>
          </a:xfrm>
          <a:prstGeom prst="roundRect">
            <a:avLst>
              <a:gd name="adj" fmla="val 40000"/>
            </a:avLst>
          </a:prstGeom>
          <a:solidFill>
            <a:srgbClr val="E3B66B"/>
          </a:solidFill>
          <a:ln w="25400">
            <a:solidFill>
              <a:srgbClr val="9C6B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315200" y="3749039"/>
            <a:ext cx="502920" cy="320040"/>
          </a:xfrm>
          <a:prstGeom prst="roundRect">
            <a:avLst>
              <a:gd name="adj" fmla="val 40000"/>
            </a:avLst>
          </a:prstGeom>
          <a:solidFill>
            <a:srgbClr val="E3B66B"/>
          </a:solidFill>
          <a:ln w="25400">
            <a:solidFill>
              <a:srgbClr val="9C6B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675120" y="4297680"/>
            <a:ext cx="502920" cy="320040"/>
          </a:xfrm>
          <a:prstGeom prst="roundRect">
            <a:avLst>
              <a:gd name="adj" fmla="val 40000"/>
            </a:avLst>
          </a:prstGeom>
          <a:solidFill>
            <a:srgbClr val="E3B66B"/>
          </a:solidFill>
          <a:ln w="25400">
            <a:solidFill>
              <a:srgbClr val="9C6B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315200" y="4297680"/>
            <a:ext cx="502920" cy="320040"/>
          </a:xfrm>
          <a:prstGeom prst="roundRect">
            <a:avLst>
              <a:gd name="adj" fmla="val 40000"/>
            </a:avLst>
          </a:prstGeom>
          <a:solidFill>
            <a:srgbClr val="E3B66B"/>
          </a:solidFill>
          <a:ln w="25400">
            <a:solidFill>
              <a:srgbClr val="9C6B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ight Triangle 36"/>
          <p:cNvSpPr/>
          <p:nvPr/>
        </p:nvSpPr>
        <p:spPr>
          <a:xfrm>
            <a:off x="8229600" y="3749039"/>
            <a:ext cx="1097280" cy="914400"/>
          </a:xfrm>
          <a:prstGeom prst="rtTriangle">
            <a:avLst/>
          </a:prstGeom>
          <a:solidFill>
            <a:srgbClr val="EC9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601200" y="3566160"/>
            <a:ext cx="731520" cy="1005840"/>
          </a:xfrm>
          <a:prstGeom prst="roundRect">
            <a:avLst>
              <a:gd name="adj" fmla="val 15000"/>
            </a:avLst>
          </a:prstGeom>
          <a:solidFill>
            <a:srgbClr val="C01718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515600" y="3291839"/>
            <a:ext cx="64008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5897880"/>
            <a:ext cx="5120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Desenho ilustrativo; medidas validadas com uma amostra do pacote.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PRESS KIT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Piquenique ao pôr do sol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949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1010"/>
                </a:solidFill>
                <a:latin typeface="DM Sans"/>
              </a:rPr>
              <a:t>Sacola kraft com guardanapo xadrez e QR code para a playlist “Sunset Picnic Maretti”, no mesmo clima do conteúdo oficial da marca.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5A1B"/>
                </a:solidFill>
                <a:latin typeface="Bebas Neue"/>
              </a:rPr>
              <a:t>NA CAIXA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53949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A4A4A"/>
                </a:solidFill>
                <a:latin typeface="DM Sans"/>
              </a:rPr>
              <a:t>Sacola kraft · guardanapo xadrez · 6 sabores · etiqueta com QR code · caixa de transporte.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49240"/>
            <a:ext cx="5394960" cy="502920"/>
          </a:xfrm>
          <a:prstGeom prst="roundRect">
            <a:avLst>
              <a:gd name="adj" fmla="val 50000"/>
            </a:avLst>
          </a:prstGeom>
          <a:solidFill>
            <a:srgbClr val="EC9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376672"/>
            <a:ext cx="50292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DM Sans"/>
              </a:rPr>
              <a:t>Guardanapo a cotar · papel estampado sai mais barato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0" y="1554480"/>
            <a:ext cx="2194560" cy="2194560"/>
          </a:xfrm>
          <a:prstGeom prst="ellipse">
            <a:avLst/>
          </a:prstGeom>
          <a:solidFill>
            <a:srgbClr val="EC9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63840" y="228600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63840" y="228600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36992" y="260604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28600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58200" y="228600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31352" y="260604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52560" y="2286000"/>
            <a:ext cx="502920" cy="777240"/>
          </a:xfrm>
          <a:prstGeom prst="roundRect">
            <a:avLst>
              <a:gd name="adj" fmla="val 15000"/>
            </a:avLst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52560" y="2286000"/>
            <a:ext cx="502920" cy="164592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25712" y="2606040"/>
            <a:ext cx="356616" cy="201168"/>
          </a:xfrm>
          <a:prstGeom prst="ellipse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rapezoid 21"/>
          <p:cNvSpPr/>
          <p:nvPr/>
        </p:nvSpPr>
        <p:spPr>
          <a:xfrm>
            <a:off x="7315200" y="2926080"/>
            <a:ext cx="2743200" cy="2560320"/>
          </a:xfrm>
          <a:prstGeom prst="trapezoid">
            <a:avLst/>
          </a:prstGeom>
          <a:solidFill>
            <a:srgbClr val="C9A06B"/>
          </a:solidFill>
          <a:ln w="25400">
            <a:solidFill>
              <a:srgbClr val="8A5E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ight Triangle 22"/>
          <p:cNvSpPr/>
          <p:nvPr/>
        </p:nvSpPr>
        <p:spPr>
          <a:xfrm>
            <a:off x="7315200" y="2834639"/>
            <a:ext cx="822960" cy="640080"/>
          </a:xfrm>
          <a:prstGeom prst="rtTriangle">
            <a:avLst/>
          </a:prstGeom>
          <a:solidFill>
            <a:srgbClr val="C0171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92440" y="3840479"/>
            <a:ext cx="1188720" cy="1188720"/>
          </a:xfrm>
          <a:prstGeom prst="ellipse">
            <a:avLst/>
          </a:prstGeom>
          <a:noFill/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411480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8B1010"/>
                </a:solidFill>
                <a:latin typeface="DM Sans"/>
              </a:rPr>
              <a:t>MARETTI</a:t>
            </a:r>
          </a:p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8B1010"/>
                </a:solidFill>
                <a:latin typeface="DM Sans"/>
              </a:rPr>
              <a:t>SUNSET PICNIC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332720" y="4114800"/>
            <a:ext cx="10972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0" y="4846320"/>
            <a:ext cx="1097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8B1010"/>
                </a:solidFill>
                <a:latin typeface="DM Sans"/>
              </a:rPr>
              <a:t>QR playlist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24744" y="4261103"/>
            <a:ext cx="274320" cy="274320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881360" y="4261103"/>
            <a:ext cx="274320" cy="274320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524744" y="4617720"/>
            <a:ext cx="274320" cy="274320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5897880"/>
            <a:ext cx="5120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Desenho ilustrativo; medidas validadas com uma amostra do pacote.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PRESS KIT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Teste às cegas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949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1010"/>
                </a:solidFill>
                <a:latin typeface="DM Sans"/>
              </a:rPr>
              <a:t>Seis envelopes numerados, sem revelar o sabor, com gabarito lacrado. O desafio: acertar os seis sabores e contar nos stories.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5A1B"/>
                </a:solidFill>
                <a:latin typeface="Bebas Neue"/>
              </a:rPr>
              <a:t>NA CAIXA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53949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A4A4A"/>
                </a:solidFill>
                <a:latin typeface="DM Sans"/>
              </a:rPr>
              <a:t>Caixa com tampa · 6 envelopes kraft numerados · gabarito lacrado com selo · cartinha com QR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49240"/>
            <a:ext cx="5394960" cy="502920"/>
          </a:xfrm>
          <a:prstGeom prst="roundRect">
            <a:avLst>
              <a:gd name="adj" fmla="val 50000"/>
            </a:avLst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376672"/>
            <a:ext cx="50292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DM Sans"/>
              </a:rPr>
              <a:t>Cabe na base de R$ 100 por kit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737360"/>
            <a:ext cx="5120640" cy="3474720"/>
          </a:xfrm>
          <a:prstGeom prst="roundRect">
            <a:avLst>
              <a:gd name="adj" fmla="val 4000"/>
            </a:avLst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1874519"/>
            <a:ext cx="4846320" cy="3200400"/>
          </a:xfrm>
          <a:prstGeom prst="rect">
            <a:avLst/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20840" y="2148840"/>
            <a:ext cx="1005840" cy="914400"/>
          </a:xfrm>
          <a:prstGeom prst="rect">
            <a:avLst/>
          </a:prstGeom>
          <a:solidFill>
            <a:srgbClr val="D8B27A"/>
          </a:solidFill>
          <a:ln w="25400">
            <a:solidFill>
              <a:srgbClr val="8A5E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10800000">
            <a:off x="6720840" y="2148840"/>
            <a:ext cx="1005840" cy="457200"/>
          </a:xfrm>
          <a:prstGeom prst="triangle">
            <a:avLst/>
          </a:prstGeom>
          <a:solidFill>
            <a:srgbClr val="C9A0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560320"/>
            <a:ext cx="1005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8B1010"/>
                </a:solidFill>
                <a:latin typeface="Bebas Neue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2148840"/>
            <a:ext cx="1005840" cy="914400"/>
          </a:xfrm>
          <a:prstGeom prst="rect">
            <a:avLst/>
          </a:prstGeom>
          <a:solidFill>
            <a:srgbClr val="D8B27A"/>
          </a:solidFill>
          <a:ln w="25400">
            <a:solidFill>
              <a:srgbClr val="8A5E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Isosceles Triangle 17"/>
          <p:cNvSpPr/>
          <p:nvPr/>
        </p:nvSpPr>
        <p:spPr>
          <a:xfrm rot="10800000">
            <a:off x="7863840" y="2148840"/>
            <a:ext cx="1005840" cy="457200"/>
          </a:xfrm>
          <a:prstGeom prst="triangle">
            <a:avLst/>
          </a:prstGeom>
          <a:solidFill>
            <a:srgbClr val="C9A0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0" y="2560320"/>
            <a:ext cx="1005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8B1010"/>
                </a:solidFill>
                <a:latin typeface="Bebas Neue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2148840"/>
            <a:ext cx="1005840" cy="914400"/>
          </a:xfrm>
          <a:prstGeom prst="rect">
            <a:avLst/>
          </a:prstGeom>
          <a:solidFill>
            <a:srgbClr val="D8B27A"/>
          </a:solidFill>
          <a:ln w="25400">
            <a:solidFill>
              <a:srgbClr val="8A5E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Isosceles Triangle 20"/>
          <p:cNvSpPr/>
          <p:nvPr/>
        </p:nvSpPr>
        <p:spPr>
          <a:xfrm rot="10800000">
            <a:off x="9006840" y="2148840"/>
            <a:ext cx="1005840" cy="457200"/>
          </a:xfrm>
          <a:prstGeom prst="triangle">
            <a:avLst/>
          </a:prstGeom>
          <a:solidFill>
            <a:srgbClr val="C9A0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6840" y="2560320"/>
            <a:ext cx="1005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8B1010"/>
                </a:solidFill>
                <a:latin typeface="Bebas Neue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20840" y="3611880"/>
            <a:ext cx="1005840" cy="914400"/>
          </a:xfrm>
          <a:prstGeom prst="rect">
            <a:avLst/>
          </a:prstGeom>
          <a:solidFill>
            <a:srgbClr val="D8B27A"/>
          </a:solidFill>
          <a:ln w="25400">
            <a:solidFill>
              <a:srgbClr val="8A5E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Isosceles Triangle 23"/>
          <p:cNvSpPr/>
          <p:nvPr/>
        </p:nvSpPr>
        <p:spPr>
          <a:xfrm rot="10800000">
            <a:off x="6720840" y="3611880"/>
            <a:ext cx="1005840" cy="457200"/>
          </a:xfrm>
          <a:prstGeom prst="triangle">
            <a:avLst/>
          </a:prstGeom>
          <a:solidFill>
            <a:srgbClr val="C9A0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0840" y="4023360"/>
            <a:ext cx="1005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8B1010"/>
                </a:solidFill>
                <a:latin typeface="Bebas Neue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3611880"/>
            <a:ext cx="1005840" cy="914400"/>
          </a:xfrm>
          <a:prstGeom prst="rect">
            <a:avLst/>
          </a:prstGeom>
          <a:solidFill>
            <a:srgbClr val="D8B27A"/>
          </a:solidFill>
          <a:ln w="25400">
            <a:solidFill>
              <a:srgbClr val="8A5E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 rot="10800000">
            <a:off x="7863840" y="3611880"/>
            <a:ext cx="1005840" cy="457200"/>
          </a:xfrm>
          <a:prstGeom prst="triangle">
            <a:avLst/>
          </a:prstGeom>
          <a:solidFill>
            <a:srgbClr val="C9A0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4023360"/>
            <a:ext cx="1005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8B1010"/>
                </a:solidFill>
                <a:latin typeface="Bebas Neue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3611880"/>
            <a:ext cx="1005840" cy="914400"/>
          </a:xfrm>
          <a:prstGeom prst="rect">
            <a:avLst/>
          </a:prstGeom>
          <a:solidFill>
            <a:srgbClr val="D8B27A"/>
          </a:solidFill>
          <a:ln w="25400">
            <a:solidFill>
              <a:srgbClr val="8A5E2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Isosceles Triangle 29"/>
          <p:cNvSpPr/>
          <p:nvPr/>
        </p:nvSpPr>
        <p:spPr>
          <a:xfrm rot="10800000">
            <a:off x="9006840" y="3611880"/>
            <a:ext cx="1005840" cy="457200"/>
          </a:xfrm>
          <a:prstGeom prst="triangle">
            <a:avLst/>
          </a:prstGeom>
          <a:solidFill>
            <a:srgbClr val="C9A0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023360"/>
            <a:ext cx="1005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0">
                <a:solidFill>
                  <a:srgbClr val="8B1010"/>
                </a:solidFill>
                <a:latin typeface="Bebas Neue"/>
              </a:rPr>
              <a:t>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95560" y="2103120"/>
            <a:ext cx="105156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95560" y="2240280"/>
            <a:ext cx="1051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B1010"/>
                </a:solidFill>
                <a:latin typeface="Bebas Neue"/>
              </a:rPr>
              <a:t>GABARITO</a:t>
            </a:r>
          </a:p>
        </p:txBody>
      </p:sp>
      <p:sp>
        <p:nvSpPr>
          <p:cNvPr id="34" name="Oval 33"/>
          <p:cNvSpPr/>
          <p:nvPr/>
        </p:nvSpPr>
        <p:spPr>
          <a:xfrm>
            <a:off x="10424160" y="3840479"/>
            <a:ext cx="594360" cy="594360"/>
          </a:xfrm>
          <a:prstGeom prst="ellipse">
            <a:avLst/>
          </a:prstGeom>
          <a:solidFill>
            <a:srgbClr val="C0171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24160" y="3886200"/>
            <a:ext cx="59436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FFFFFF"/>
                </a:solidFill>
                <a:latin typeface="Bebas Neue"/>
              </a:rPr>
              <a:t>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897880"/>
            <a:ext cx="5120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Desenho ilustrativo; medidas validadas com uma amostra do pacote.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PRESS KIT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Direto da padaria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9496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1010"/>
                </a:solidFill>
                <a:latin typeface="DM Sans"/>
              </a:rPr>
              <a:t>Embalagem de saco de padaria com carimbo “Maretti Bakery” e etiqueta escrita à mão, reforçando o pão de verdade feito de forma artesanal.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F25A1B"/>
                </a:solidFill>
                <a:latin typeface="Bebas Neue"/>
              </a:rPr>
              <a:t>NA CAIXA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86200"/>
            <a:ext cx="539496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7A4A4A"/>
                </a:solidFill>
                <a:latin typeface="DM Sans"/>
              </a:rPr>
              <a:t>Saco de padaria · 6 sabores · mini passaporte com um carimbo por sabor e três usos: salada, sopa e farofinha.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349240"/>
            <a:ext cx="5394960" cy="502920"/>
          </a:xfrm>
          <a:prstGeom prst="roundRect">
            <a:avLst>
              <a:gd name="adj" fmla="val 50000"/>
            </a:avLst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376672"/>
            <a:ext cx="502920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DM Sans"/>
              </a:rPr>
              <a:t>Cabe na base de R$ 100 por kit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011679"/>
            <a:ext cx="2560320" cy="3291840"/>
          </a:xfrm>
          <a:prstGeom prst="rect">
            <a:avLst/>
          </a:prstGeom>
          <a:solidFill>
            <a:srgbClr val="FBF3EA"/>
          </a:solidFill>
          <a:ln w="25400">
            <a:solidFill>
              <a:srgbClr val="B59B6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2011679"/>
            <a:ext cx="2560320" cy="274320"/>
          </a:xfrm>
          <a:prstGeom prst="rect">
            <a:avLst/>
          </a:prstGeom>
          <a:solidFill>
            <a:srgbClr val="EADB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86600" y="2926080"/>
            <a:ext cx="1737360" cy="1737360"/>
          </a:xfrm>
          <a:prstGeom prst="ellipse">
            <a:avLst/>
          </a:prstGeom>
          <a:noFill/>
          <a:ln w="25400">
            <a:solidFill>
              <a:srgbClr val="C0171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600" y="3383280"/>
            <a:ext cx="17373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01718"/>
                </a:solidFill>
                <a:latin typeface="Bebas Neue"/>
              </a:rPr>
              <a:t>MARETTI</a:t>
            </a:r>
          </a:p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01718"/>
                </a:solidFill>
                <a:latin typeface="Bebas Neue"/>
              </a:rPr>
              <a:t>BAKERY</a:t>
            </a:r>
          </a:p>
        </p:txBody>
      </p:sp>
      <p:sp>
        <p:nvSpPr>
          <p:cNvPr id="16" name="Pentagon 15"/>
          <p:cNvSpPr/>
          <p:nvPr/>
        </p:nvSpPr>
        <p:spPr>
          <a:xfrm>
            <a:off x="9326880" y="2377439"/>
            <a:ext cx="1005840" cy="640080"/>
          </a:xfrm>
          <a:prstGeom prst="homePlate">
            <a:avLst/>
          </a:prstGeom>
          <a:solidFill>
            <a:srgbClr val="EC952E"/>
          </a:solidFill>
          <a:ln w="25400">
            <a:solidFill>
              <a:srgbClr val="8B101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246888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1010"/>
                </a:solidFill>
                <a:latin typeface="DM Sans"/>
              </a:rPr>
              <a:t>Para Ana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3566160"/>
            <a:ext cx="1737360" cy="1554480"/>
          </a:xfrm>
          <a:prstGeom prst="roundRect">
            <a:avLst>
              <a:gd name="adj" fmla="val 8000"/>
            </a:avLst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0" y="3611879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EC952E"/>
                </a:solidFill>
                <a:latin typeface="Bebas Neue"/>
              </a:rPr>
              <a:t>PASSAPORTE</a:t>
            </a:r>
          </a:p>
        </p:txBody>
      </p:sp>
      <p:sp>
        <p:nvSpPr>
          <p:cNvPr id="20" name="Oval 19"/>
          <p:cNvSpPr/>
          <p:nvPr/>
        </p:nvSpPr>
        <p:spPr>
          <a:xfrm>
            <a:off x="9692640" y="4069079"/>
            <a:ext cx="365760" cy="365760"/>
          </a:xfrm>
          <a:prstGeom prst="ellipse">
            <a:avLst/>
          </a:prstGeom>
          <a:noFill/>
          <a:ln w="25400">
            <a:solidFill>
              <a:srgbClr val="EC95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95560" y="4069079"/>
            <a:ext cx="365760" cy="365760"/>
          </a:xfrm>
          <a:prstGeom prst="ellipse">
            <a:avLst/>
          </a:prstGeom>
          <a:noFill/>
          <a:ln w="25400">
            <a:solidFill>
              <a:srgbClr val="EC95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98480" y="4069079"/>
            <a:ext cx="365760" cy="365760"/>
          </a:xfrm>
          <a:prstGeom prst="ellipse">
            <a:avLst/>
          </a:prstGeom>
          <a:noFill/>
          <a:ln w="25400">
            <a:solidFill>
              <a:srgbClr val="EC95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0" y="4571999"/>
            <a:ext cx="365760" cy="365760"/>
          </a:xfrm>
          <a:prstGeom prst="ellipse">
            <a:avLst/>
          </a:prstGeom>
          <a:noFill/>
          <a:ln w="25400">
            <a:solidFill>
              <a:srgbClr val="EC95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95560" y="4571999"/>
            <a:ext cx="365760" cy="365760"/>
          </a:xfrm>
          <a:prstGeom prst="ellipse">
            <a:avLst/>
          </a:prstGeom>
          <a:noFill/>
          <a:ln w="25400">
            <a:solidFill>
              <a:srgbClr val="EC95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698480" y="4571999"/>
            <a:ext cx="365760" cy="365760"/>
          </a:xfrm>
          <a:prstGeom prst="ellipse">
            <a:avLst/>
          </a:prstGeom>
          <a:noFill/>
          <a:ln w="25400">
            <a:solidFill>
              <a:srgbClr val="EC95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5897880"/>
            <a:ext cx="51206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Desenho ilustrativo; medidas validadas com uma amostra do pacote.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010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C9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C952E"/>
                </a:solidFill>
                <a:latin typeface="DM Sans"/>
              </a:rPr>
              <a:t>A RECOMENDAÇÃO DA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0">
                <a:solidFill>
                  <a:srgbClr val="FFFFFF"/>
                </a:solidFill>
                <a:latin typeface="Bebas Neue"/>
              </a:rPr>
              <a:t>“QUAL É O SEU LADO?” PARA OS 40, COM A HARMONIZAÇÃO PARA O GRUPO DE APERITIVO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A52A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C952E"/>
                </a:solidFill>
                <a:latin typeface="Bebas Neue"/>
              </a:rPr>
              <a:t>BASE PARA TODOS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29260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DM Sans"/>
              </a:rPr>
              <a:t>Caixa de dois lados: tem a cara da marca e foi pensada para gerar enquete nos stories.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29184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A52A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47472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C952E"/>
                </a:solidFill>
                <a:latin typeface="Bebas Neue"/>
              </a:rPr>
              <a:t>EXTRA PARA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023360"/>
            <a:ext cx="29260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DM Sans"/>
              </a:rPr>
              <a:t>O cartão de harmonização do kit 02 vai para o grupo de aperitivo e gastronomia.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329184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A52A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3474720"/>
            <a:ext cx="2926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C952E"/>
                </a:solidFill>
                <a:latin typeface="Bebas Neue"/>
              </a:rPr>
              <a:t>SEM CUSTO EXTRA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023360"/>
            <a:ext cx="29260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DM Sans"/>
              </a:rPr>
              <a:t>Tudo dentro do investimento aprovado de R$ 14.000.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FFFFF"/>
                </a:solidFill>
                <a:latin typeface="DM Sans"/>
              </a:rPr>
              <a:t>movementme · Se não move, não muda.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PRODUÇÃO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Onde os kits são feitos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474720" cy="3566160"/>
          </a:xfrm>
          <a:prstGeom prst="roundRect">
            <a:avLst>
              <a:gd name="adj" fmla="val 6000"/>
            </a:avLst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DM Sans"/>
              </a:rPr>
              <a:t>CAIXAS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Bebas Neue"/>
              </a:rPr>
              <a:t>ROSA MORENA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2926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DM Sans"/>
              </a:rPr>
              <a:t>Fornecedora que já produz as caixas de seeding da Aurora: conhece o padrão, emite a nota direto para a Aurora e fica em São Paulo.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474720" cy="3566160"/>
          </a:xfrm>
          <a:prstGeom prst="roundRect">
            <a:avLst>
              <a:gd name="adj" fmla="val 6000"/>
            </a:avLst>
          </a:prstGeom>
          <a:solidFill>
            <a:srgbClr val="F25A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DM Sans"/>
              </a:rPr>
              <a:t>IMPRESSOS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860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Bebas Neue"/>
              </a:rPr>
              <a:t>GRÁFICA PARCEIRA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71800"/>
            <a:ext cx="2926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DM Sans"/>
              </a:rPr>
              <a:t>Cartinha em papel 170 g, cartão de harmonização e etiquetas, na gráfica que já imprime os seedings da MOVE.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1737360"/>
            <a:ext cx="3474720" cy="3566160"/>
          </a:xfrm>
          <a:prstGeom prst="roundRect">
            <a:avLst>
              <a:gd name="adj" fmla="val 6000"/>
            </a:avLst>
          </a:prstGeom>
          <a:solidFill>
            <a:srgbClr val="6D8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DM Sans"/>
              </a:rPr>
              <a:t>MONTAGEM E ENVIO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8600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Bebas Neue"/>
              </a:rPr>
              <a:t>NA MOVE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71800"/>
            <a:ext cx="2926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FFFFFF"/>
                </a:solidFill>
                <a:latin typeface="DM Sans"/>
              </a:rPr>
              <a:t>Montagem um a um no escritório da MOVE, em São Paulo. Envio pelos Correios com código de rastreio, conferido envio a envio.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4A4A"/>
                </a:solidFill>
                <a:latin typeface="DM Sans"/>
              </a:rPr>
              <a:t>Itens extras dos kits 02, 03 e 05 (tábua, guardanapo, carimbo) entram em cotação com a Rosa Morena e com mais duas opções, para comparar preço e prazo.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01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25A1B"/>
                </a:solidFill>
                <a:latin typeface="DM Sans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>
                <a:solidFill>
                  <a:srgbClr val="8B1010"/>
                </a:solidFill>
                <a:latin typeface="Bebas Neue"/>
              </a:rPr>
              <a:t>Para alinharmos antes de executar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movementme · Bruschettas Maretti · Seeding orgânico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4A4A"/>
                </a:solidFill>
                <a:latin typeface="DM San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25A1B"/>
                </a:solidFill>
                <a:latin typeface="Bebas Neue"/>
              </a:rPr>
              <a:t>PARA DEFINIRMOS JUNTOS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9164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25A1B"/>
                </a:solidFill>
                <a:latin typeface="Bebas Neue"/>
              </a:rPr>
              <a:t>PARA COMEÇARMOS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394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8B1010"/>
                </a:solidFill>
                <a:latin typeface="DM Sans"/>
              </a:rPr>
              <a:t>1. Objetivo da campanha: </a:t>
            </a:r>
            <a:r>
              <a:rPr sz="1500" b="0">
                <a:solidFill>
                  <a:srgbClr val="8B1010"/>
                </a:solidFill>
                <a:latin typeface="DM Sans"/>
              </a:rPr>
              <a:t>conhecimento de marca, venda em varejistas específicos ou entrada em novos pontos de venda?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5394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8B1010"/>
                </a:solidFill>
                <a:latin typeface="DM Sans"/>
              </a:rPr>
              <a:t>2. Destino do QR code: </a:t>
            </a:r>
            <a:r>
              <a:rPr sz="1500" b="0">
                <a:solidFill>
                  <a:srgbClr val="8B1010"/>
                </a:solidFill>
                <a:latin typeface="DM Sans"/>
              </a:rPr>
              <a:t>a página das Bruschettas Maretti no site da Aurora, a Amazon ou um varejista parceiro?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5394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8B1010"/>
                </a:solidFill>
                <a:latin typeface="DM Sans"/>
              </a:rPr>
              <a:t>3. Perfil para marcação: </a:t>
            </a:r>
            <a:r>
              <a:rPr sz="1500" b="0">
                <a:solidFill>
                  <a:srgbClr val="8B1010"/>
                </a:solidFill>
                <a:latin typeface="DM Sans"/>
              </a:rPr>
              <a:t>o perfil global da Maretti, o @aurorafinebrands ou outro?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5394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8B1010"/>
                </a:solidFill>
                <a:latin typeface="DM Sans"/>
              </a:rPr>
              <a:t>4. Onde o produto está: </a:t>
            </a:r>
            <a:r>
              <a:rPr sz="1500" b="0">
                <a:solidFill>
                  <a:srgbClr val="8B1010"/>
                </a:solidFill>
                <a:latin typeface="DM Sans"/>
              </a:rPr>
              <a:t>redes e regiões com estoque, para priorizar creators dessas praças.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48840"/>
            <a:ext cx="5394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8B1010"/>
                </a:solidFill>
                <a:latin typeface="DM Sans"/>
              </a:rPr>
              <a:t>1. Aprovação: </a:t>
            </a:r>
            <a:r>
              <a:rPr sz="1500" b="0">
                <a:solidFill>
                  <a:srgbClr val="8B1010"/>
                </a:solidFill>
                <a:latin typeface="DM Sans"/>
              </a:rPr>
              <a:t>mailing e caminho de press kit.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108960"/>
            <a:ext cx="5394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8B1010"/>
                </a:solidFill>
                <a:latin typeface="DM Sans"/>
              </a:rPr>
              <a:t>2. Brandbook: </a:t>
            </a:r>
            <a:r>
              <a:rPr sz="1500" b="0">
                <a:solidFill>
                  <a:srgbClr val="8B1010"/>
                </a:solidFill>
                <a:latin typeface="DM Sans"/>
              </a:rPr>
              <a:t>logos, cores, tipografia e tom de voz da Maretti.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4069080"/>
            <a:ext cx="5394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8B1010"/>
                </a:solidFill>
                <a:latin typeface="DM Sans"/>
              </a:rPr>
              <a:t>3. SKUs: </a:t>
            </a:r>
            <a:r>
              <a:rPr sz="1500" b="0">
                <a:solidFill>
                  <a:srgbClr val="8B1010"/>
                </a:solidFill>
                <a:latin typeface="DM Sans"/>
              </a:rPr>
              <a:t>confirmação dos seis sabores de 85 g: 240 pacotes, mais reserva.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5029200"/>
            <a:ext cx="539496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8B1010"/>
                </a:solidFill>
                <a:latin typeface="DM Sans"/>
              </a:rPr>
              <a:t>4. OK para executar: </a:t>
            </a:r>
            <a:r>
              <a:rPr sz="1500" b="0">
                <a:solidFill>
                  <a:srgbClr val="8B1010"/>
                </a:solidFill>
                <a:latin typeface="DM Sans"/>
              </a:rPr>
              <a:t>pedido das caixas e contato com os creators.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