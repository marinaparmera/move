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ped" id="{680d42d0-23f9-08a7-46f1-6df3a34a2470}">
          <p14:sldIdLst/>
        </p14:section>
        <p14:section name="Default-1" id="{e68347ba-db04-9964-9af0-0a7caed22258}">
          <p14:sldIdLst>
            <p14:sldId id="258"/>
            <p14:sldId id="259"/>
            <p14:sldId id="260"/>
            <p14:sldId id="261"/>
            <p14:sldId id="262"/>
          </p14:sldIdLst>
        </p14:section>
        <p14:section name="Janod" id="{27bb3f8a-4fd6-5b24-48ee-3a47cce9b00a}">
          <p14:sldIdLst/>
        </p14:section>
        <p14:section name="Default-2" id="{209b84a8-6c7f-3ef5-804f-c45359e56972}">
          <p14:sldIdLst>
            <p14:sldId id="263"/>
            <p14:sldId id="264"/>
            <p14:sldId id="265"/>
            <p14:sldId id="266"/>
            <p14:sldId id="267"/>
          </p14:sldIdLst>
        </p14:section>
        <p14:section name="Fechamento" id="{7595f09c-57e7-2f4c-65bd-017391547a78}">
          <p14:sldIdLst/>
        </p14:section>
        <p14:section name="Default-3" id="{5ca8d95c-376d-1781-4269-e53307c422cf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Maped · Mídia: R$ 10.094,00 por mês (30,5% do fee de R$ 33.100,00). Valores da emissão de NF aba 10-26; racional na aba EMISSÃO 10-26 e CENTRO DE CUSTO do Excel de apoio.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Maped · SAC 3.0: R$ 12.820,00 por mês (38,7% do fee de R$ 33.100,00). Valores da emissão de NF aba 10-26; racional na aba EMISSÃO 10-26 e CENTRO DE CUSTO do Excel de apoio.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Maped · Conteúdo: R$ 8.086,00 por mês (24,4% do fee de R$ 33.100,00). Valores da emissão de NF aba 10-26; racional na aba EMISSÃO 10-26 e CENTRO DE CUSTO do Excel de apoio.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Maped · Influenciadores: R$ 2.100,00 por mês (6,3% do fee de R$ 33.100,00). Valores da emissão de NF aba 10-26; racional na aba EMISSÃO 10-26 e CENTRO DE CUSTO do Excel de apoio.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Janod · Conteúdo: R$ 5.145,00 por mês (50,0% do fee de R$ 10.297,50). Valores da emissão de NF aba 10-26; racional na aba EMISSÃO 10-26 e CENTRO DE CUSTO do Excel de apoio.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Janod · Mídia: R$ 2.500,00 por mês (24,3% do fee de R$ 10.297,50). Valores da emissão de NF aba 10-26; racional na aba EMISSÃO 10-26 e CENTRO DE CUSTO do Excel de apoio.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Janod · SAC 3.0: R$ 1.752,50 por mês (17,0% do fee de R$ 10.297,50). Valores da emissão de NF aba 10-26; racional na aba EMISSÃO 10-26 e CENTRO DE CUSTO do Excel de apoio.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Janod · Influenciadores: R$ 900,00 por mês (8,7% do fee de R$ 10.297,50). Valores da emissão de NF aba 10-26; racional na aba EMISSÃO 10-26 e CENTRO DE CUSTO do Excel de apoio.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MOVE · Maped e Janod · Escopo por centro de custo · out/2026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RCA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MOVE · Maped e Janod · Escopo por centro de custo · out/2026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MOVE · Maped e Janod · Escopo por centro de custo · out/2026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azul"/>
          <p:cNvSpPr/>
          <p:nvPr/>
        </p:nvSpPr>
        <p:spPr>
          <a:xfrm>
            <a:off x="8778240" y="-1097280"/>
            <a:ext cx="4206240" cy="42062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Círculo laranja"/>
          <p:cNvSpPr/>
          <p:nvPr/>
        </p:nvSpPr>
        <p:spPr>
          <a:xfrm>
            <a:off x="7863840" y="2743200"/>
            <a:ext cx="2377440" cy="2377440"/>
          </a:xfrm>
          <a:prstGeom prst="ellipse">
            <a:avLst/>
          </a:prstGeom>
          <a:solidFill>
            <a:srgbClr val="C2562E"/>
          </a:solidFill>
          <a:ln w="12700">
            <a:solidFill>
              <a:srgbClr val="C2562E"/>
            </a:solidFill>
            <a:prstDash val="solid"/>
          </a:ln>
        </p:spPr>
      </p:sp>
      <p:sp>
        <p:nvSpPr>
          <p:cNvPr id="4" name="Círculo amarelo"/>
          <p:cNvSpPr/>
          <p:nvPr/>
        </p:nvSpPr>
        <p:spPr>
          <a:xfrm>
            <a:off x="10332720" y="4206240"/>
            <a:ext cx="1188720" cy="1188720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· GRUPO MAPED DO BRASIL · OUTUBRO 2026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Maped e Janod</a:t>
            </a:r>
            <a:endParaRPr lang="en-US" sz="4800" dirty="0"/>
          </a:p>
          <a:p>
            <a:pPr indent="0" marL="0">
              <a:buNone/>
            </a:pPr>
            <a:r>
              <a:rPr lang="en-US" sz="4800" b="1" i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centro de custo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escopo que a MOVE entrega, aberto pelos centros de custo da emissão de NF: Mídia, SAC 3.0, Conteúdo e Influenciadores.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R$ 33.100,00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983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JANOD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R$ 10.297,50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4983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R$ 43.397,50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4983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planilha de emissão de NF aba 10-26 e e-mails de faturamento de setembro/2026 (NFs 3138 a 3141).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ESTE MATERIAL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centros de custo, um slide para cada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da emissão cai em um centro de custo (o departamento do DRE). A soma dos quatro é o fee da marca e bate com a nota fiscal.</a:t>
            </a:r>
            <a:endParaRPr lang="en-US" sz="1500" dirty="0"/>
          </a:p>
        </p:txBody>
      </p:sp>
      <p:sp>
        <p:nvSpPr>
          <p:cNvPr id="5" name="Cartão Mídia"/>
          <p:cNvSpPr/>
          <p:nvPr/>
        </p:nvSpPr>
        <p:spPr>
          <a:xfrm>
            <a:off x="548640" y="224028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Marcador Mídia"/>
          <p:cNvSpPr/>
          <p:nvPr/>
        </p:nvSpPr>
        <p:spPr>
          <a:xfrm>
            <a:off x="777240" y="2468880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Mídia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5584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Mídia paga e tráfego, mídia orgânica e redes sociais com inteligência</a:t>
            </a:r>
            <a:endParaRPr lang="en-US" sz="1300" dirty="0"/>
          </a:p>
        </p:txBody>
      </p:sp>
      <p:sp>
        <p:nvSpPr>
          <p:cNvPr id="9" name="Cartão SAC 3.0"/>
          <p:cNvSpPr/>
          <p:nvPr/>
        </p:nvSpPr>
        <p:spPr>
          <a:xfrm>
            <a:off x="3337560" y="224028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Marcador SAC 3.0"/>
          <p:cNvSpPr/>
          <p:nvPr/>
        </p:nvSpPr>
        <p:spPr>
          <a:xfrm>
            <a:off x="3566160" y="2468880"/>
            <a:ext cx="384048" cy="384048"/>
          </a:xfrm>
          <a:prstGeom prst="ellipse">
            <a:avLst/>
          </a:prstGeom>
          <a:solidFill>
            <a:srgbClr val="C2562E"/>
          </a:solidFill>
          <a:ln w="12700">
            <a:solidFill>
              <a:srgbClr val="C256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 3.0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35584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digital em redes, e-mail, reclamações e WhatsApp</a:t>
            </a:r>
            <a:endParaRPr lang="en-US" sz="1300" dirty="0"/>
          </a:p>
        </p:txBody>
      </p:sp>
      <p:sp>
        <p:nvSpPr>
          <p:cNvPr id="13" name="Cartão Conteúdo"/>
          <p:cNvSpPr/>
          <p:nvPr/>
        </p:nvSpPr>
        <p:spPr>
          <a:xfrm>
            <a:off x="6126480" y="224028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Marcador Conteúdo"/>
          <p:cNvSpPr/>
          <p:nvPr/>
        </p:nvSpPr>
        <p:spPr>
          <a:xfrm>
            <a:off x="6355080" y="2468880"/>
            <a:ext cx="384048" cy="384048"/>
          </a:xfrm>
          <a:prstGeom prst="ellipse">
            <a:avLst/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35584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de fotos, gráficos e vídeos, e projetos extras</a:t>
            </a:r>
            <a:endParaRPr lang="en-US" sz="1300" dirty="0"/>
          </a:p>
        </p:txBody>
      </p:sp>
      <p:sp>
        <p:nvSpPr>
          <p:cNvPr id="17" name="Cartão Influenciadores"/>
          <p:cNvSpPr/>
          <p:nvPr/>
        </p:nvSpPr>
        <p:spPr>
          <a:xfrm>
            <a:off x="8915400" y="224028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Marcador Influenciadores"/>
          <p:cNvSpPr/>
          <p:nvPr/>
        </p:nvSpPr>
        <p:spPr>
          <a:xfrm>
            <a:off x="9144000" y="2468880"/>
            <a:ext cx="384048" cy="384048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0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Influenciadores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335584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 e parcerias. Os reembolsos também caem aqui, em NF própria</a:t>
            </a:r>
            <a:endParaRPr lang="en-US" sz="1300" dirty="0"/>
          </a:p>
        </p:txBody>
      </p:sp>
      <p:graphicFrame>
        <p:nvGraphicFramePr>
          <p:cNvPr id="3" name="Matriz centro de cust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011680"/>
                <a:gridCol w="1645920"/>
                <a:gridCol w="201168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 CUSTO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MAPED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JANOD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R$ 10.094,00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R$ 2.500,00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SAC 3.0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R$ 12.820,00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R$ 1.752,50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R$ 8.086,00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R$ 5.145,00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Influenciadores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R$ 2.100,00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do fee mensal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R$ 33.100,00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R$ 10.297,50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9052560" y="-1463040"/>
            <a:ext cx="4572000" cy="4572000"/>
          </a:xfrm>
          <a:prstGeom prst="ellipse">
            <a:avLst/>
          </a:prstGeom>
          <a:solidFill>
            <a:srgbClr val="3D68E0"/>
          </a:solidFill>
          <a:ln w="12700">
            <a:solidFill>
              <a:srgbClr val="3D6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0" y="365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1 DE 2 · VALOR TOTAL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Maped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R$ 33.100,00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 de fee, soma dos quatro centros de custo da emissão de outubro/2026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R$ 99.300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69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a dez/2026 (3 meses)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R$ 397.200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4069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12 meses no escopo atual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R$ 34.094,53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4069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faturado em set/26: NF 3138 + reembolso NF 3139</a:t>
            </a:r>
            <a:endParaRPr lang="en-US" sz="1200" dirty="0"/>
          </a:p>
        </p:txBody>
      </p:sp>
      <p:sp>
        <p:nvSpPr>
          <p:cNvPr id="14" name="Barra Mídia"/>
          <p:cNvSpPr/>
          <p:nvPr/>
        </p:nvSpPr>
        <p:spPr>
          <a:xfrm>
            <a:off x="548640" y="4983480"/>
            <a:ext cx="33740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Barra SAC 3.0"/>
          <p:cNvSpPr/>
          <p:nvPr/>
        </p:nvSpPr>
        <p:spPr>
          <a:xfrm>
            <a:off x="3922732" y="4983480"/>
            <a:ext cx="4285304" cy="292608"/>
          </a:xfrm>
          <a:prstGeom prst="rect">
            <a:avLst/>
          </a:prstGeom>
          <a:solidFill>
            <a:srgbClr val="C2562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Barra Conteúdo"/>
          <p:cNvSpPr/>
          <p:nvPr/>
        </p:nvSpPr>
        <p:spPr>
          <a:xfrm>
            <a:off x="8208036" y="4983480"/>
            <a:ext cx="2702884" cy="292608"/>
          </a:xfrm>
          <a:prstGeom prst="rect">
            <a:avLst/>
          </a:prstGeom>
          <a:solidFill>
            <a:srgbClr val="16233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Barra Influenciadores"/>
          <p:cNvSpPr/>
          <p:nvPr/>
        </p:nvSpPr>
        <p:spPr>
          <a:xfrm>
            <a:off x="10910919" y="4983480"/>
            <a:ext cx="701961" cy="292608"/>
          </a:xfrm>
          <a:prstGeom prst="rect">
            <a:avLst/>
          </a:prstGeom>
          <a:solidFill>
            <a:srgbClr val="E8C547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Legenda Mídia"/>
          <p:cNvSpPr/>
          <p:nvPr/>
        </p:nvSpPr>
        <p:spPr>
          <a:xfrm>
            <a:off x="548640" y="5458968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413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Mídia · R$ 10.094 · 30,5%</a:t>
            </a:r>
            <a:endParaRPr lang="en-US" sz="1200" dirty="0"/>
          </a:p>
        </p:txBody>
      </p:sp>
      <p:sp>
        <p:nvSpPr>
          <p:cNvPr id="20" name="Legenda SAC 3.0"/>
          <p:cNvSpPr/>
          <p:nvPr/>
        </p:nvSpPr>
        <p:spPr>
          <a:xfrm>
            <a:off x="3337560" y="5458968"/>
            <a:ext cx="182880" cy="182880"/>
          </a:xfrm>
          <a:prstGeom prst="ellipse">
            <a:avLst/>
          </a:prstGeom>
          <a:solidFill>
            <a:srgbClr val="C256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11880" y="5413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3.0 · R$ 12.820 · 38,7%</a:t>
            </a:r>
            <a:endParaRPr lang="en-US" sz="1200" dirty="0"/>
          </a:p>
        </p:txBody>
      </p:sp>
      <p:sp>
        <p:nvSpPr>
          <p:cNvPr id="22" name="Legenda Conteúdo"/>
          <p:cNvSpPr/>
          <p:nvPr/>
        </p:nvSpPr>
        <p:spPr>
          <a:xfrm>
            <a:off x="6126480" y="5458968"/>
            <a:ext cx="182880" cy="182880"/>
          </a:xfrm>
          <a:prstGeom prst="ellipse">
            <a:avLst/>
          </a:prstGeom>
          <a:solidFill>
            <a:srgbClr val="16233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5413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· R$ 8.086 · 24,4%</a:t>
            </a:r>
            <a:endParaRPr lang="en-US" sz="1200" dirty="0"/>
          </a:p>
        </p:txBody>
      </p:sp>
      <p:sp>
        <p:nvSpPr>
          <p:cNvPr id="24" name="Legenda Influenciadores"/>
          <p:cNvSpPr/>
          <p:nvPr/>
        </p:nvSpPr>
        <p:spPr>
          <a:xfrm>
            <a:off x="8915400" y="5458968"/>
            <a:ext cx="182880" cy="182880"/>
          </a:xfrm>
          <a:prstGeom prst="ellipse">
            <a:avLst/>
          </a:prstGeom>
          <a:solidFill>
            <a:srgbClr val="E8C54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89720" y="5413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Influenciadores · R$ 2.100 · 6,3%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MAPED · CENTRO DE CUSTO 1 DE 4 · 30,5% DO FEE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Mídia · R$ 10.094,00 por mês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das campanhas em cinco plataformas e das redes orgânicas. A verba dos anúncios é paga pela Maped direto aos veículos e não entra neste valor.</a:t>
            </a:r>
            <a:endParaRPr lang="en-US" sz="1500" dirty="0"/>
          </a:p>
        </p:txBody>
      </p:sp>
      <p:graphicFrame>
        <p:nvGraphicFramePr>
          <p:cNvPr id="5" name="Tabela Mídi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7086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880360"/>
                <a:gridCol w="164592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INCLUI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Seguidores e engajamento das 14 publicações (5 fotos, 4 gráficos, 5 vídeos)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R$ 274,93 / publicação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R$ 3.849,00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Patrocínio dos 5 vídeos do mês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R$ 349,00 / vídeo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R$ 1.745,00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Produtos patrocinados, lista enviada pela Bianca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R$ 1.500,00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 Livre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Ads nos sellers da Maped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R$ 1.500,00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Shopee Ads. Anúncios pausados desde 01/10 (contrato Lepok)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R$ 1.500,00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Branding, concorrentes, YouTube e PMax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faturado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cobrança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sociais e inteligência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Meta, 8 Pinterest, 5 TikTok, 2 YouTube, deck mensal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cobrança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do centro de custo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R$ 10.094,00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</a:tr>
            </a:tbl>
          </a:graphicData>
        </a:graphic>
      </p:graphicFrame>
      <p:sp>
        <p:nvSpPr>
          <p:cNvPr id="6" name="Cartão Semana de 09 a 16/10"/>
          <p:cNvSpPr/>
          <p:nvPr/>
        </p:nvSpPr>
        <p:spPr>
          <a:xfrm>
            <a:off x="7909560" y="2194560"/>
            <a:ext cx="3733495" cy="1280160"/>
          </a:xfrm>
          <a:prstGeom prst="roundRect">
            <a:avLst>
              <a:gd name="adj" fmla="val 5714"/>
            </a:avLst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10728" y="2359152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DE 09 A 16/10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110728" y="2633472"/>
            <a:ext cx="33311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88 mil pessoas alcançadas com R$ 1.078,40. TikTok: 61,8 mil visualizações com R$ 170,32. Amazon: ROAS 6,67. Google: 1.065 conversões com R$ 255,73.</a:t>
            </a:r>
            <a:endParaRPr lang="en-US" sz="1300" dirty="0"/>
          </a:p>
        </p:txBody>
      </p:sp>
      <p:sp>
        <p:nvSpPr>
          <p:cNvPr id="9" name="Cartão Quem faz"/>
          <p:cNvSpPr/>
          <p:nvPr/>
        </p:nvSpPr>
        <p:spPr>
          <a:xfrm>
            <a:off x="7909560" y="3657600"/>
            <a:ext cx="3733495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10728" y="3822192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110728" y="4096512"/>
            <a:ext cx="33311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Gabrielle Duarte (mídia e marketplaces) e Ana Beatriz Morgado (redes e deck mensal), com estratégia da Marina. Report semanal na weekly.</a:t>
            </a:r>
            <a:endParaRPr lang="en-US" sz="1300" dirty="0"/>
          </a:p>
        </p:txBody>
      </p:sp>
      <p:sp>
        <p:nvSpPr>
          <p:cNvPr id="12" name="Atenção"/>
          <p:cNvSpPr/>
          <p:nvPr/>
        </p:nvSpPr>
        <p:spPr>
          <a:xfrm>
            <a:off x="7909560" y="4983480"/>
            <a:ext cx="3733495" cy="1097280"/>
          </a:xfrm>
          <a:prstGeom prst="roundRect">
            <a:avLst>
              <a:gd name="adj" fmla="val 6667"/>
            </a:avLst>
          </a:prstGeom>
          <a:solidFill>
            <a:srgbClr val="F6E3DA"/>
          </a:solidFill>
          <a:ln w="12700">
            <a:solidFill>
              <a:srgbClr val="F6E3D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10728" y="5129784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110728" y="5394960"/>
            <a:ext cx="33311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 segue faturada com anúncios pausados e Google aparece sem valor. Confirmar as duas linhas com a Maped.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MAPED · CENTRO DE CUSTO 2 DE 4 · 38,7% DO FEE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 3.0 · R$ 12.820,00 por mês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centro de custo da Maped: atendimento em redes, e-mail, reclamações e WhatsApp, de segunda a segunda, com SLA de 24 horas.</a:t>
            </a:r>
            <a:endParaRPr lang="en-US" sz="1500" dirty="0"/>
          </a:p>
        </p:txBody>
      </p:sp>
      <p:graphicFrame>
        <p:nvGraphicFramePr>
          <p:cNvPr id="6" name="Tabela SAC 3.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7086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880360"/>
                <a:gridCol w="164592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INCLUI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sociais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 + stories, Facebook + Messenger e TikTok. Até 1.000 interações, repost 2x ao 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R$ 6,05 / interação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R$ 6.048,00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SAC por e-mail, até 500 mensagens, seg a seg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R$ 4,89 / mensagem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R$ 2.444,00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Reclamações e envios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Planilhas de endereços, controle e acompanhamento, até 40 por mês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R$ 58,20 / caso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R$ 2.328,00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Station SAC e automações de mensagens do bot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R$ 2.000,00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Reclame Aqui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Atendimento das reclamações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bonificado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cobrança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do centro de custo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R$ 12.820,00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</a:tr>
            </a:tbl>
          </a:graphicData>
        </a:graphic>
      </p:graphicFrame>
      <p:sp>
        <p:nvSpPr>
          <p:cNvPr id="6" name="Cartão Weekly de 09/10"/>
          <p:cNvSpPr/>
          <p:nvPr/>
        </p:nvSpPr>
        <p:spPr>
          <a:xfrm>
            <a:off x="7909560" y="2194560"/>
            <a:ext cx="3733495" cy="1280160"/>
          </a:xfrm>
          <a:prstGeom prst="roundRect">
            <a:avLst>
              <a:gd name="adj" fmla="val 5714"/>
            </a:avLst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10728" y="2359152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 09/10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110728" y="2633472"/>
            <a:ext cx="33311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interações na semana: 54 positivas, 4 neutras e 3 dúvidas. Ocorrências em dia.</a:t>
            </a:r>
            <a:endParaRPr lang="en-US" sz="1300" dirty="0"/>
          </a:p>
        </p:txBody>
      </p:sp>
      <p:sp>
        <p:nvSpPr>
          <p:cNvPr id="9" name="Cartão Quem faz"/>
          <p:cNvSpPr/>
          <p:nvPr/>
        </p:nvSpPr>
        <p:spPr>
          <a:xfrm>
            <a:off x="7909560" y="3657600"/>
            <a:ext cx="3733495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10728" y="3822192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110728" y="4096512"/>
            <a:ext cx="33311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Naiara Capuzzo e Ariene Nogueira. Relatórios migrando para o novo layout desde 08/10.</a:t>
            </a:r>
            <a:endParaRPr lang="en-US" sz="1300" dirty="0"/>
          </a:p>
        </p:txBody>
      </p:sp>
      <p:sp>
        <p:nvSpPr>
          <p:cNvPr id="12" name="Atenção"/>
          <p:cNvSpPr/>
          <p:nvPr/>
        </p:nvSpPr>
        <p:spPr>
          <a:xfrm>
            <a:off x="7909560" y="4983480"/>
            <a:ext cx="3733495" cy="1097280"/>
          </a:xfrm>
          <a:prstGeom prst="roundRect">
            <a:avLst>
              <a:gd name="adj" fmla="val 6667"/>
            </a:avLst>
          </a:prstGeom>
          <a:solidFill>
            <a:srgbClr val="F6E3DA"/>
          </a:solidFill>
          <a:ln w="12700">
            <a:solidFill>
              <a:srgbClr val="F6E3D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10728" y="5129784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110728" y="5394960"/>
            <a:ext cx="33311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levar as avaliações de marketplace para dentro do SAC.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MAPED · CENTRO DE CUSTO 3 DE 4 · 24,4% DO FEE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· R$ 8.086,00 por mês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 posts produzidos pela MOVE todo mês, quatro vídeos adaptados da Maped França e um vídeo nacional com datas e linguagem brasileiras.</a:t>
            </a:r>
            <a:endParaRPr lang="en-US" sz="1500" dirty="0"/>
          </a:p>
        </p:txBody>
      </p:sp>
      <p:graphicFrame>
        <p:nvGraphicFramePr>
          <p:cNvPr id="7" name="Tabela Conteúd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7086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880360"/>
                <a:gridCol w="164592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INCLUI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fotos + 4 gráficos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de produto e lifestyle e peças gráficas, com shooting mensal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R$ 387,78 / 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R$ 3.490,00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vídeos FR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Adaptação dos vídeos da matriz francesa para o Brasil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R$ 399,00 / vídeo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R$ 1.596,00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vídeo BR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Roteiro e captação MOVE com sazonalidade brasileira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R$ 3.000,00 / vídeo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R$ 3.000,00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do centro de custo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R$ 8.086,00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</a:tr>
            </a:tbl>
          </a:graphicData>
        </a:graphic>
      </p:graphicFrame>
      <p:sp>
        <p:nvSpPr>
          <p:cNvPr id="6" name="Cartão Como funciona"/>
          <p:cNvSpPr/>
          <p:nvPr/>
        </p:nvSpPr>
        <p:spPr>
          <a:xfrm>
            <a:off x="7909560" y="2194560"/>
            <a:ext cx="3733495" cy="1280160"/>
          </a:xfrm>
          <a:prstGeom prst="roundRect">
            <a:avLst>
              <a:gd name="adj" fmla="val 5714"/>
            </a:avLst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10728" y="2359152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110728" y="2633472"/>
            <a:ext cx="33311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Moodboard do mês, pedido de produtos à Bianca, shooting e entrega no deck de conteúdo para aprovação.</a:t>
            </a:r>
            <a:endParaRPr lang="en-US" sz="1300" dirty="0"/>
          </a:p>
        </p:txBody>
      </p:sp>
      <p:sp>
        <p:nvSpPr>
          <p:cNvPr id="9" name="Cartão Quem faz"/>
          <p:cNvSpPr/>
          <p:nvPr/>
        </p:nvSpPr>
        <p:spPr>
          <a:xfrm>
            <a:off x="7909560" y="3657600"/>
            <a:ext cx="3733495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10728" y="3822192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110728" y="4096512"/>
            <a:ext cx="33311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Raquel Da Paz (produção e vídeo) e Laiane Moura (criação). Diária de vídeos de 22/10 com o videomaker Will.</a:t>
            </a:r>
            <a:endParaRPr lang="en-US" sz="1300" dirty="0"/>
          </a:p>
        </p:txBody>
      </p:sp>
      <p:sp>
        <p:nvSpPr>
          <p:cNvPr id="12" name="Atenção"/>
          <p:cNvSpPr/>
          <p:nvPr/>
        </p:nvSpPr>
        <p:spPr>
          <a:xfrm>
            <a:off x="7909560" y="4983480"/>
            <a:ext cx="3733495" cy="1097280"/>
          </a:xfrm>
          <a:prstGeom prst="roundRect">
            <a:avLst>
              <a:gd name="adj" fmla="val 6667"/>
            </a:avLst>
          </a:prstGeom>
          <a:solidFill>
            <a:srgbClr val="F6E3DA"/>
          </a:solidFill>
          <a:ln w="12700">
            <a:solidFill>
              <a:srgbClr val="F6E3D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10728" y="5129784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110728" y="5394960"/>
            <a:ext cx="33311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Novembro: Long Life 12, Color'Peps Infinity Jumbo e Star, Picnik Concept Miniz e vídeo da linha Picnik Origins.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MAPED · CENTRO DE CUSTO 4 DE 4 · 6,3% DO FEE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Influenciadores · R$ 2.100,00 por mês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seedings por mês, com curadoria, mailing, aprovação, envio e acompanhamento. Caixas, fretes e insumos saem em nota própria, a custo + 30%.</a:t>
            </a:r>
            <a:endParaRPr lang="en-US" sz="1500" dirty="0"/>
          </a:p>
        </p:txBody>
      </p:sp>
      <p:graphicFrame>
        <p:nvGraphicFramePr>
          <p:cNvPr id="8" name="Tabela Influenciado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7086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880360"/>
                <a:gridCol w="164592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INCLUI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seedings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Curadoria, mailing para aprovação, montagem do kit, expedição e relatório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R$ 300,00 / seeding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R$ 2.100,00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do centro de custo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R$ 2.100,00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</a:tr>
            </a:tbl>
          </a:graphicData>
        </a:graphic>
      </p:graphicFrame>
      <p:sp>
        <p:nvSpPr>
          <p:cNvPr id="6" name="Reembolso"/>
          <p:cNvSpPr/>
          <p:nvPr/>
        </p:nvSpPr>
        <p:spPr>
          <a:xfrm>
            <a:off x="548640" y="3794760"/>
            <a:ext cx="7086600" cy="1417320"/>
          </a:xfrm>
          <a:prstGeom prst="roundRect">
            <a:avLst>
              <a:gd name="adj" fmla="val 5161"/>
            </a:avLst>
          </a:prstGeom>
          <a:solidFill>
            <a:srgbClr val="EEE8DA"/>
          </a:solidFill>
          <a:ln w="12700">
            <a:solidFill>
              <a:srgbClr val="EEE8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5935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REEMBOLSO · MESMO CENTRO DE CUSTO, FORA DO FEE · NF 3139 DE SETEMBRO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R$ 765,02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7274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das caixas, fretes e insumos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06324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R$ 229,51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063240" y="47274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MOVE de 30%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34924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R$ 994,53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47274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faturado em nota própria</a:t>
            </a:r>
            <a:endParaRPr lang="en-US" sz="1200" dirty="0"/>
          </a:p>
        </p:txBody>
      </p:sp>
      <p:sp>
        <p:nvSpPr>
          <p:cNvPr id="14" name="Cartão Mailings"/>
          <p:cNvSpPr/>
          <p:nvPr/>
        </p:nvSpPr>
        <p:spPr>
          <a:xfrm>
            <a:off x="7909560" y="2194560"/>
            <a:ext cx="3733495" cy="1280160"/>
          </a:xfrm>
          <a:prstGeom prst="roundRect">
            <a:avLst>
              <a:gd name="adj" fmla="val 5714"/>
            </a:avLst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10728" y="2359152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MAILINGS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110728" y="2633472"/>
            <a:ext cx="33311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Novembro e dezembro enviados em 21/10, adiantados pelas agendas de fim de ano. Press kits Dragon Collection e Planetinhas em circulação.</a:t>
            </a:r>
            <a:endParaRPr lang="en-US" sz="1300" dirty="0"/>
          </a:p>
        </p:txBody>
      </p:sp>
      <p:sp>
        <p:nvSpPr>
          <p:cNvPr id="17" name="Cartão Quem faz"/>
          <p:cNvSpPr/>
          <p:nvPr/>
        </p:nvSpPr>
        <p:spPr>
          <a:xfrm>
            <a:off x="7909560" y="3657600"/>
            <a:ext cx="3733495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10728" y="3822192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110728" y="4096512"/>
            <a:ext cx="33311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 (Influenciadores), com envios operados por Ariene Nogueira.</a:t>
            </a:r>
            <a:endParaRPr lang="en-US" sz="1300" dirty="0"/>
          </a:p>
        </p:txBody>
      </p:sp>
      <p:sp>
        <p:nvSpPr>
          <p:cNvPr id="20" name="Atenção"/>
          <p:cNvSpPr/>
          <p:nvPr/>
        </p:nvSpPr>
        <p:spPr>
          <a:xfrm>
            <a:off x="7909560" y="4983480"/>
            <a:ext cx="3733495" cy="1097280"/>
          </a:xfrm>
          <a:prstGeom prst="roundRect">
            <a:avLst>
              <a:gd name="adj" fmla="val 6667"/>
            </a:avLst>
          </a:prstGeom>
          <a:solidFill>
            <a:srgbClr val="F6E3DA"/>
          </a:solidFill>
          <a:ln w="12700">
            <a:solidFill>
              <a:srgbClr val="F6E3D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10728" y="5129784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110728" y="5394960"/>
            <a:ext cx="33311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às Aulas 2027 tem seeding próprio (50 influenciadores) e é cobrada à parte, fora deste fee.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9052560" y="-1463040"/>
            <a:ext cx="4572000" cy="4572000"/>
          </a:xfrm>
          <a:prstGeom prst="ellipse">
            <a:avLst/>
          </a:prstGeom>
          <a:solidFill>
            <a:srgbClr val="3D68E0"/>
          </a:solidFill>
          <a:ln w="12700">
            <a:solidFill>
              <a:srgbClr val="3D6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0" y="365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2 DE 2 · VALOR TOTAL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Janod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R$ 10.297,50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 de fee, soma dos quatro centros de custo da emissão de outubro/2026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R$ 30.893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69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a dez/2026 (3 meses)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R$ 123.570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4069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12 meses no escopo atual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R$ 11.124,86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4069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faturado em set/26: NF 3140 + reembolso NF 3141</a:t>
            </a:r>
            <a:endParaRPr lang="en-US" sz="1200" dirty="0"/>
          </a:p>
        </p:txBody>
      </p:sp>
      <p:sp>
        <p:nvSpPr>
          <p:cNvPr id="14" name="Barra Conteúdo"/>
          <p:cNvSpPr/>
          <p:nvPr/>
        </p:nvSpPr>
        <p:spPr>
          <a:xfrm>
            <a:off x="548640" y="4983480"/>
            <a:ext cx="5528091" cy="292608"/>
          </a:xfrm>
          <a:prstGeom prst="rect">
            <a:avLst/>
          </a:prstGeom>
          <a:solidFill>
            <a:srgbClr val="16233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Barra Mídia"/>
          <p:cNvSpPr/>
          <p:nvPr/>
        </p:nvSpPr>
        <p:spPr>
          <a:xfrm>
            <a:off x="6076731" y="4983480"/>
            <a:ext cx="2686147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Barra SAC 3.0"/>
          <p:cNvSpPr/>
          <p:nvPr/>
        </p:nvSpPr>
        <p:spPr>
          <a:xfrm>
            <a:off x="8762878" y="4983480"/>
            <a:ext cx="1882989" cy="292608"/>
          </a:xfrm>
          <a:prstGeom prst="rect">
            <a:avLst/>
          </a:prstGeom>
          <a:solidFill>
            <a:srgbClr val="C2562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Barra Influenciadores"/>
          <p:cNvSpPr/>
          <p:nvPr/>
        </p:nvSpPr>
        <p:spPr>
          <a:xfrm>
            <a:off x="10645867" y="4983480"/>
            <a:ext cx="967013" cy="292608"/>
          </a:xfrm>
          <a:prstGeom prst="rect">
            <a:avLst/>
          </a:prstGeom>
          <a:solidFill>
            <a:srgbClr val="E8C547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Legenda Conteúdo"/>
          <p:cNvSpPr/>
          <p:nvPr/>
        </p:nvSpPr>
        <p:spPr>
          <a:xfrm>
            <a:off x="548640" y="5458968"/>
            <a:ext cx="182880" cy="182880"/>
          </a:xfrm>
          <a:prstGeom prst="ellipse">
            <a:avLst/>
          </a:prstGeom>
          <a:solidFill>
            <a:srgbClr val="16233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413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· R$ 5.145 · 50,0%</a:t>
            </a:r>
            <a:endParaRPr lang="en-US" sz="1200" dirty="0"/>
          </a:p>
        </p:txBody>
      </p:sp>
      <p:sp>
        <p:nvSpPr>
          <p:cNvPr id="20" name="Legenda Mídia"/>
          <p:cNvSpPr/>
          <p:nvPr/>
        </p:nvSpPr>
        <p:spPr>
          <a:xfrm>
            <a:off x="3337560" y="5458968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11880" y="5413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Mídia · R$ 2.500 · 24,3%</a:t>
            </a:r>
            <a:endParaRPr lang="en-US" sz="1200" dirty="0"/>
          </a:p>
        </p:txBody>
      </p:sp>
      <p:sp>
        <p:nvSpPr>
          <p:cNvPr id="22" name="Legenda SAC 3.0"/>
          <p:cNvSpPr/>
          <p:nvPr/>
        </p:nvSpPr>
        <p:spPr>
          <a:xfrm>
            <a:off x="6126480" y="5458968"/>
            <a:ext cx="182880" cy="182880"/>
          </a:xfrm>
          <a:prstGeom prst="ellipse">
            <a:avLst/>
          </a:prstGeom>
          <a:solidFill>
            <a:srgbClr val="C256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5413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3.0 · R$ 1.752,50 · 17,0%</a:t>
            </a:r>
            <a:endParaRPr lang="en-US" sz="1200" dirty="0"/>
          </a:p>
        </p:txBody>
      </p:sp>
      <p:sp>
        <p:nvSpPr>
          <p:cNvPr id="24" name="Legenda Influenciadores"/>
          <p:cNvSpPr/>
          <p:nvPr/>
        </p:nvSpPr>
        <p:spPr>
          <a:xfrm>
            <a:off x="8915400" y="5458968"/>
            <a:ext cx="182880" cy="182880"/>
          </a:xfrm>
          <a:prstGeom prst="ellipse">
            <a:avLst/>
          </a:prstGeom>
          <a:solidFill>
            <a:srgbClr val="E8C54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89720" y="5413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Influenciadores · R$ 900 · 8,7%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JANOD · CENTRO DE CUSTO 1 DE 4 · 50,0% DO FEE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· R$ 5.145,00 por mês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do fee da Janod. Fotos e vídeos que traduzem uma marca premium de brinquedos de madeira, com cenário de quarto infantil.</a:t>
            </a:r>
            <a:endParaRPr lang="en-US" sz="1500" dirty="0"/>
          </a:p>
        </p:txBody>
      </p:sp>
      <p:graphicFrame>
        <p:nvGraphicFramePr>
          <p:cNvPr id="10" name="Tabela Conteúd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7086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880360"/>
                <a:gridCol w="164592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INCLUI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fotos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 de quarto infantil e madeira, com cara de Janod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R$ 379,75 / 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R$ 1.139,25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gráficos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Peças de produto, benefícios e datas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R$ 379,75 / 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R$ 1.139,25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vídeos 9:16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Roteiro e captação MOVE, com limite de alterações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R$ 1.433,25 / vídeo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R$ 2.866,50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do centro de custo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R$ 5.145,00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</a:tr>
            </a:tbl>
          </a:graphicData>
        </a:graphic>
      </p:graphicFrame>
      <p:sp>
        <p:nvSpPr>
          <p:cNvPr id="6" name="Cartão Como funciona"/>
          <p:cNvSpPr/>
          <p:nvPr/>
        </p:nvSpPr>
        <p:spPr>
          <a:xfrm>
            <a:off x="7909560" y="2194560"/>
            <a:ext cx="3733495" cy="1280160"/>
          </a:xfrm>
          <a:prstGeom prst="roundRect">
            <a:avLst>
              <a:gd name="adj" fmla="val 5714"/>
            </a:avLst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10728" y="2359152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110728" y="2633472"/>
            <a:ext cx="33311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Moodboard mensal "3 fotos / 3 gráficos / 2 vídeos". Dinâmica das fotos aprovada pela Bianca em 25/09.</a:t>
            </a:r>
            <a:endParaRPr lang="en-US" sz="1300" dirty="0"/>
          </a:p>
        </p:txBody>
      </p:sp>
      <p:sp>
        <p:nvSpPr>
          <p:cNvPr id="9" name="Cartão Quem faz"/>
          <p:cNvSpPr/>
          <p:nvPr/>
        </p:nvSpPr>
        <p:spPr>
          <a:xfrm>
            <a:off x="7909560" y="3657600"/>
            <a:ext cx="3733495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10728" y="3822192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110728" y="4096512"/>
            <a:ext cx="33311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 Loureiro no planejamento e deck mensal, Raquel Da Paz na produção. Vídeos de outubro na diária de 22/10.</a:t>
            </a:r>
            <a:endParaRPr lang="en-US" sz="1300" dirty="0"/>
          </a:p>
        </p:txBody>
      </p:sp>
      <p:sp>
        <p:nvSpPr>
          <p:cNvPr id="12" name="Atenção"/>
          <p:cNvSpPr/>
          <p:nvPr/>
        </p:nvSpPr>
        <p:spPr>
          <a:xfrm>
            <a:off x="7909560" y="4983480"/>
            <a:ext cx="3733495" cy="1097280"/>
          </a:xfrm>
          <a:prstGeom prst="roundRect">
            <a:avLst>
              <a:gd name="adj" fmla="val 6667"/>
            </a:avLst>
          </a:prstGeom>
          <a:solidFill>
            <a:srgbClr val="F6E3DA"/>
          </a:solidFill>
          <a:ln w="12700">
            <a:solidFill>
              <a:srgbClr val="F6E3D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10728" y="5129784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110728" y="5394960"/>
            <a:ext cx="33311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R$ 380 por post produzido: é o piso de preço do grupo para conteúdo.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JANOD · CENTRO DE CUSTO 2 DE 4 · 24,3% DO FEE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Mídia · R$ 2.500,00 por mês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Mídia de marca em Meta e Google sobre o conteúdo do mês, mais as redes orgânicas, que entram sem cobrança à parte.</a:t>
            </a:r>
            <a:endParaRPr lang="en-US" sz="1500" dirty="0"/>
          </a:p>
        </p:txBody>
      </p:sp>
      <p:graphicFrame>
        <p:nvGraphicFramePr>
          <p:cNvPr id="11" name="Tabela Mídi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7086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880360"/>
                <a:gridCol w="164592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INCLUI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posts + 2 vídeos: seguidores, engajamento e tráfego para o 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R$ 156,25 / peça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R$ 1.250,00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posts + 2 vídeos: branding, concorrentes, YouTube e PMax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R$ 156,25 / peça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R$ 1.250,00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sociais e inteligência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Meta, 8 Pinterest, 2 TikTok, 2 YouTube, relatório mensal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cobrança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do centro de custo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R$ 2.500,00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</a:tr>
            </a:tbl>
          </a:graphicData>
        </a:graphic>
      </p:graphicFrame>
      <p:sp>
        <p:nvSpPr>
          <p:cNvPr id="6" name="Cartão Weekly de 09/10"/>
          <p:cNvSpPr/>
          <p:nvPr/>
        </p:nvSpPr>
        <p:spPr>
          <a:xfrm>
            <a:off x="7909560" y="2194560"/>
            <a:ext cx="3733495" cy="1280160"/>
          </a:xfrm>
          <a:prstGeom prst="roundRect">
            <a:avLst>
              <a:gd name="adj" fmla="val 5714"/>
            </a:avLst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10728" y="2359152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 09/10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110728" y="2633472"/>
            <a:ext cx="33311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56 mil de alcance com R$ 573,85 e CTR de 2,55%. Google: 3.118 conversões com R$ 193,06. TikTok: 839 mil views com R$ 210,74.</a:t>
            </a:r>
            <a:endParaRPr lang="en-US" sz="1300" dirty="0"/>
          </a:p>
        </p:txBody>
      </p:sp>
      <p:sp>
        <p:nvSpPr>
          <p:cNvPr id="9" name="Cartão Quem faz"/>
          <p:cNvSpPr/>
          <p:nvPr/>
        </p:nvSpPr>
        <p:spPr>
          <a:xfrm>
            <a:off x="7909560" y="3657600"/>
            <a:ext cx="3733495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10728" y="3822192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110728" y="4096512"/>
            <a:ext cx="33311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Gabrielle Duarte na mídia e Carolina Loureiro nas redes.</a:t>
            </a:r>
            <a:endParaRPr lang="en-US" sz="1300" dirty="0"/>
          </a:p>
        </p:txBody>
      </p:sp>
      <p:sp>
        <p:nvSpPr>
          <p:cNvPr id="12" name="Atenção"/>
          <p:cNvSpPr/>
          <p:nvPr/>
        </p:nvSpPr>
        <p:spPr>
          <a:xfrm>
            <a:off x="7909560" y="4983480"/>
            <a:ext cx="3733495" cy="1097280"/>
          </a:xfrm>
          <a:prstGeom prst="roundRect">
            <a:avLst>
              <a:gd name="adj" fmla="val 6667"/>
            </a:avLst>
          </a:prstGeom>
          <a:solidFill>
            <a:srgbClr val="F6E3DA"/>
          </a:solidFill>
          <a:ln w="12700">
            <a:solidFill>
              <a:srgbClr val="F6E3D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10728" y="5129784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110728" y="5394960"/>
            <a:ext cx="33311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patrocinado roda e é reportado na weekly, mas não tem linha na emissão. Avaliar para o escopo 2027.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JANOD · CENTRO DE CUSTO 3 DE 4 · 17,0% DO FEE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 3.0 · R$ 1.752,50 por mês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enxuto em Facebook e Instagram, de segunda a sexta, com FAQ e alinhamento semanal.</a:t>
            </a:r>
            <a:endParaRPr lang="en-US" sz="1500" dirty="0"/>
          </a:p>
        </p:txBody>
      </p:sp>
      <p:graphicFrame>
        <p:nvGraphicFramePr>
          <p:cNvPr id="12" name="Tabela SAC 3.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7086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880360"/>
                <a:gridCol w="164592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INCLUI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 e Instagram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Feed, direct e stories. Repost de stories e inclusão nos destaques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R$ 5,84 / interação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R$ 1.752,50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Inteligência do SAC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Planejamento de FAQ, alinhamento semanal e análise de resultados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incluso na linha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cobrança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Checagem 3x ao dia, seg a sex, até 300 interações por mês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incluso na linha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cobrança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do centro de custo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R$ 1.752,50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</a:tr>
            </a:tbl>
          </a:graphicData>
        </a:graphic>
      </p:graphicFrame>
      <p:sp>
        <p:nvSpPr>
          <p:cNvPr id="6" name="Cartão Weekly de 02/10"/>
          <p:cNvSpPr/>
          <p:nvPr/>
        </p:nvSpPr>
        <p:spPr>
          <a:xfrm>
            <a:off x="7909560" y="2194560"/>
            <a:ext cx="3733495" cy="1280160"/>
          </a:xfrm>
          <a:prstGeom prst="roundRect">
            <a:avLst>
              <a:gd name="adj" fmla="val 5714"/>
            </a:avLst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10728" y="2359152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 02/10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110728" y="2633472"/>
            <a:ext cx="33311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interações, 1 negativa e 4 dúvidas, com ocorrências de logística em acompanhamento.</a:t>
            </a:r>
            <a:endParaRPr lang="en-US" sz="1300" dirty="0"/>
          </a:p>
        </p:txBody>
      </p:sp>
      <p:sp>
        <p:nvSpPr>
          <p:cNvPr id="9" name="Cartão Quem faz"/>
          <p:cNvSpPr/>
          <p:nvPr/>
        </p:nvSpPr>
        <p:spPr>
          <a:xfrm>
            <a:off x="7909560" y="3657600"/>
            <a:ext cx="3733495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10728" y="3822192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110728" y="4096512"/>
            <a:ext cx="33311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Naiara Capuzzo.</a:t>
            </a:r>
            <a:endParaRPr lang="en-US" sz="1300" dirty="0"/>
          </a:p>
        </p:txBody>
      </p:sp>
      <p:sp>
        <p:nvSpPr>
          <p:cNvPr id="12" name="Atenção"/>
          <p:cNvSpPr/>
          <p:nvPr/>
        </p:nvSpPr>
        <p:spPr>
          <a:xfrm>
            <a:off x="7909560" y="4983480"/>
            <a:ext cx="3733495" cy="1097280"/>
          </a:xfrm>
          <a:prstGeom prst="roundRect">
            <a:avLst>
              <a:gd name="adj" fmla="val 6667"/>
            </a:avLst>
          </a:prstGeom>
          <a:solidFill>
            <a:srgbClr val="F6E3DA"/>
          </a:solidFill>
          <a:ln w="12700">
            <a:solidFill>
              <a:srgbClr val="F6E3D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10728" y="5129784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110728" y="5394960"/>
            <a:ext cx="33311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Comparação: a Maped paga R$ 6,05 por interação em redes, a Janod R$ 5,84.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JANOD · CENTRO DE CUSTO 4 DE 4 · 8,7% DO FEE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Influenciadores · R$ 900,00 por mês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seedings por mês em perfis com alta chance de postagem. Caixas e fretes saem em nota própria, a custo + 30%.</a:t>
            </a:r>
            <a:endParaRPr lang="en-US" sz="1500" dirty="0"/>
          </a:p>
        </p:txBody>
      </p:sp>
      <p:graphicFrame>
        <p:nvGraphicFramePr>
          <p:cNvPr id="13" name="Tabela Influenciado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7086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880360"/>
                <a:gridCol w="164592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INCLUI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seedings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Curadoria, mailing aprovado pela Bianca, kit, expedição e relatório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R$ 300,00 / seeding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do centro de custo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A"/>
                    </a:solidFill>
                  </a:tcPr>
                </a:tc>
              </a:tr>
            </a:tbl>
          </a:graphicData>
        </a:graphic>
      </p:graphicFrame>
      <p:sp>
        <p:nvSpPr>
          <p:cNvPr id="6" name="Reembolso"/>
          <p:cNvSpPr/>
          <p:nvPr/>
        </p:nvSpPr>
        <p:spPr>
          <a:xfrm>
            <a:off x="548640" y="3794760"/>
            <a:ext cx="7086600" cy="1417320"/>
          </a:xfrm>
          <a:prstGeom prst="roundRect">
            <a:avLst>
              <a:gd name="adj" fmla="val 5161"/>
            </a:avLst>
          </a:prstGeom>
          <a:solidFill>
            <a:srgbClr val="EEE8DA"/>
          </a:solidFill>
          <a:ln w="12700">
            <a:solidFill>
              <a:srgbClr val="EEE8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5935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REEMBOLSO · MESMO CENTRO DE CUSTO, FORA DO FEE · NF 3141 DE SETEMBRO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R$ 636,43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7274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das caixas, fretes e insumos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06324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R$ 190,93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063240" y="47274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MOVE de 30%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34924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R$ 827,36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47274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faturado em nota própria</a:t>
            </a:r>
            <a:endParaRPr lang="en-US" sz="1200" dirty="0"/>
          </a:p>
        </p:txBody>
      </p:sp>
      <p:sp>
        <p:nvSpPr>
          <p:cNvPr id="14" name="Cartão Mailings"/>
          <p:cNvSpPr/>
          <p:nvPr/>
        </p:nvSpPr>
        <p:spPr>
          <a:xfrm>
            <a:off x="7909560" y="2194560"/>
            <a:ext cx="3733495" cy="1280160"/>
          </a:xfrm>
          <a:prstGeom prst="roundRect">
            <a:avLst>
              <a:gd name="adj" fmla="val 5714"/>
            </a:avLst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10728" y="2359152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MAILINGS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110728" y="2633472"/>
            <a:ext cx="33311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Aprovados em 21/10 até janeiro/2027: 3 perfis em novembro, 3 em dezembro e 3 em janeiro.</a:t>
            </a:r>
            <a:endParaRPr lang="en-US" sz="1300" dirty="0"/>
          </a:p>
        </p:txBody>
      </p:sp>
      <p:sp>
        <p:nvSpPr>
          <p:cNvPr id="17" name="Cartão Collab paga"/>
          <p:cNvSpPr/>
          <p:nvPr/>
        </p:nvSpPr>
        <p:spPr>
          <a:xfrm>
            <a:off x="7909560" y="3657600"/>
            <a:ext cx="3733495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10728" y="3822192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 PAGA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110728" y="4096512"/>
            <a:ext cx="33311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Niina Secrets no Dia das Crianças (contrato na Clicksign em 06/10). Não está na emissão recorrente.</a:t>
            </a:r>
            <a:endParaRPr lang="en-US" sz="1300" dirty="0"/>
          </a:p>
        </p:txBody>
      </p:sp>
      <p:sp>
        <p:nvSpPr>
          <p:cNvPr id="20" name="Atenção"/>
          <p:cNvSpPr/>
          <p:nvPr/>
        </p:nvSpPr>
        <p:spPr>
          <a:xfrm>
            <a:off x="7909560" y="4983480"/>
            <a:ext cx="3733495" cy="1097280"/>
          </a:xfrm>
          <a:prstGeom prst="roundRect">
            <a:avLst>
              <a:gd name="adj" fmla="val 6667"/>
            </a:avLst>
          </a:prstGeom>
          <a:solidFill>
            <a:srgbClr val="F6E3DA"/>
          </a:solidFill>
          <a:ln w="12700">
            <a:solidFill>
              <a:srgbClr val="F6E3D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10728" y="5129784"/>
            <a:ext cx="3331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110728" y="5394960"/>
            <a:ext cx="33311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collab da Niina, o Reels levou 2,4x mais sessões ao site e 664 buscas no Gofind em 7 dias.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valor do deck bate com a nota fiscal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dos centros de custo é igual à emissão de outubro e às NFs de serviço de setembro. Reembolso sai à parte.</a:t>
            </a:r>
            <a:endParaRPr lang="en-US" sz="1500" dirty="0"/>
          </a:p>
        </p:txBody>
      </p:sp>
      <p:graphicFrame>
        <p:nvGraphicFramePr>
          <p:cNvPr id="14" name="Conciliaçã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722376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371600"/>
                <a:gridCol w="1371600"/>
                <a:gridCol w="731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 dos quatro centros de custo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R$ 33.100,00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R$ 10.297,50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da emissão aba 10-26 (NF 10 e NF 12)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R$ 33.100,00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R$ 10.297,50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 de serviço de setembro (3138 e 3140)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R$ 33.100,00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R$ 10.297,50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 de reembolso de setembro (3139 e 3141)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R$ 994,53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R$ 827,36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E6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parte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faturado em setembro (e-mail de 02/10)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R$ 34.094,53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R$ 11.124,86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Grupo"/>
          <p:cNvSpPr/>
          <p:nvPr/>
        </p:nvSpPr>
        <p:spPr>
          <a:xfrm>
            <a:off x="8046720" y="2240280"/>
            <a:ext cx="3596335" cy="1737360"/>
          </a:xfrm>
          <a:prstGeom prst="roundRect">
            <a:avLst>
              <a:gd name="adj" fmla="val 4211"/>
            </a:avLst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75320" y="2395728"/>
            <a:ext cx="3139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MAPED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2697480"/>
            <a:ext cx="3139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R$ 43.397,50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3246120"/>
            <a:ext cx="3139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 · R$ 520.770 em 12 meses</a:t>
            </a:r>
            <a:endParaRPr lang="en-US" sz="1300" dirty="0"/>
          </a:p>
        </p:txBody>
      </p:sp>
      <p:sp>
        <p:nvSpPr>
          <p:cNvPr id="10" name="Fora do fee"/>
          <p:cNvSpPr/>
          <p:nvPr/>
        </p:nvSpPr>
        <p:spPr>
          <a:xfrm>
            <a:off x="8046720" y="4160520"/>
            <a:ext cx="359633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4315968"/>
            <a:ext cx="3139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FEE RECORRENTE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4617720"/>
            <a:ext cx="31391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às Aulas 2027: R$ 58.980 para a MOVE (orçamento v3), aguardando aprovação escrita.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Maped México: proposta de R$ 9.500, aguardando resposta.</a:t>
            </a:r>
            <a:endParaRPr lang="en-US" sz="1300" dirty="0"/>
          </a:p>
        </p:txBody>
      </p:sp>
      <p:sp>
        <p:nvSpPr>
          <p:cNvPr id="13" name="Pontos a confirmar"/>
          <p:cNvSpPr/>
          <p:nvPr/>
        </p:nvSpPr>
        <p:spPr>
          <a:xfrm>
            <a:off x="548640" y="4754880"/>
            <a:ext cx="7223760" cy="1325880"/>
          </a:xfrm>
          <a:prstGeom prst="roundRect">
            <a:avLst>
              <a:gd name="adj" fmla="val 5517"/>
            </a:avLst>
          </a:prstGeom>
          <a:solidFill>
            <a:srgbClr val="F6E3DA"/>
          </a:solidFill>
          <a:ln w="12700">
            <a:solidFill>
              <a:srgbClr val="F6E3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901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A CONFIRMAR COM A MAPED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5193792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Shopee faturada com anúncios pausados desde 01/10, Google de Maped sem faturamento e a taxa de 30% sobre reembolsos registrada em contrato.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azul"/>
          <p:cNvSpPr/>
          <p:nvPr/>
        </p:nvSpPr>
        <p:spPr>
          <a:xfrm>
            <a:off x="8961120" y="3108960"/>
            <a:ext cx="2926080" cy="29260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Círculo amarelo"/>
          <p:cNvSpPr/>
          <p:nvPr/>
        </p:nvSpPr>
        <p:spPr>
          <a:xfrm>
            <a:off x="8138160" y="2377440"/>
            <a:ext cx="1097280" cy="1097280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PUBLICIDADE · MOVEMENTME.COM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marcas,</a:t>
            </a:r>
            <a:endParaRPr lang="en-US" sz="4600" dirty="0"/>
          </a:p>
          <a:p>
            <a:pPr indent="0" marL="0">
              <a:buNone/>
            </a:pPr>
            <a:r>
              <a:rPr lang="en-US" sz="4600" b="1" i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centros de custo.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 Parmera · marinaparmera@movementme.com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VE">
  <a:themeElements>
    <a:clrScheme name="MOVE">
      <a:dk1>
        <a:srgbClr val="16233F"/>
      </a:dk1>
      <a:lt1>
        <a:srgbClr val="FFFFFF"/>
      </a:lt1>
      <a:dk2>
        <a:srgbClr val="2B3A5C"/>
      </a:dk2>
      <a:lt2>
        <a:srgbClr val="F5F2EA"/>
      </a:lt2>
      <a:accent1>
        <a:srgbClr val="1D4ED8"/>
      </a:accent1>
      <a:accent2>
        <a:srgbClr val="C2562E"/>
      </a:accent2>
      <a:accent3>
        <a:srgbClr val="E8C547"/>
      </a:accent3>
      <a:accent4>
        <a:srgbClr val="5E6A82"/>
      </a:accent4>
      <a:accent5>
        <a:srgbClr val="EEE8DA"/>
      </a:accent5>
      <a:accent6>
        <a:srgbClr val="7FA2F0"/>
      </a:accent6>
      <a:hlink>
        <a:srgbClr val="1D4ED8"/>
      </a:hlink>
      <a:folHlink>
        <a:srgbClr val="5E6A82"/>
      </a:folHlink>
    </a:clrScheme>
    <a:fontScheme name="MO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MOVE Publicidade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Maped e Janod · Escopo MOVE por centro de custo</dc:title>
  <dc:subject>PptxGenJS Presentation</dc:subject>
  <dc:creator>MOVE Publicidade</dc:creator>
  <cp:lastModifiedBy>MOVE Publicidade</cp:lastModifiedBy>
  <cp:revision>1</cp:revision>
  <dcterms:created xsi:type="dcterms:W3CDTF">2026-10-21T18:24:59Z</dcterms:created>
  <dcterms:modified xsi:type="dcterms:W3CDTF">2026-10-21T18:24:59Z</dcterms:modified>
</cp:coreProperties>
</file>