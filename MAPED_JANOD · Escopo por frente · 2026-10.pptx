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05333" y="-1185333"/>
            <a:ext cx="4402666" cy="440266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7366000" y="2116666"/>
            <a:ext cx="2540000" cy="2540000"/>
          </a:xfrm>
          <a:prstGeom prst="ellipse">
            <a:avLst/>
          </a:prstGeom>
          <a:solidFill>
            <a:srgbClr val="C256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0160000" y="3979333"/>
            <a:ext cx="1016000" cy="1016000"/>
          </a:xfrm>
          <a:prstGeom prst="ellipse">
            <a:avLst/>
          </a:prstGeom>
          <a:solidFill>
            <a:srgbClr val="E8C54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77333" y="677333"/>
            <a:ext cx="7620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E8C547"/>
                </a:solidFill>
                <a:latin typeface="DM Sans"/>
              </a:rPr>
              <a:t>MOVE · GRUPO MAPED DO BRASIL · OUTUBRO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333" y="1185333"/>
            <a:ext cx="6773333" cy="287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130" b="1" i="0">
                <a:solidFill>
                  <a:srgbClr val="FFFFFF"/>
                </a:solidFill>
                <a:latin typeface="Fraunces"/>
              </a:rPr>
              <a:t>Maped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130" b="1" i="0">
                <a:solidFill>
                  <a:srgbClr val="FFFFFF"/>
                </a:solidFill>
                <a:latin typeface="Fraunces"/>
              </a:rPr>
              <a:t>e Janod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130" b="0" i="1">
                <a:solidFill>
                  <a:srgbClr val="E8C547"/>
                </a:solidFill>
                <a:latin typeface="Fraunces"/>
              </a:rPr>
              <a:t>frente a frente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423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70" b="0" i="0">
                <a:solidFill>
                  <a:srgbClr val="C9D1E3"/>
                </a:solidFill>
                <a:latin typeface="DM Sans"/>
              </a:rPr>
              <a:t>O escopo completo que a MOVE entrega para as duas marcas, com o descritivo de cada frente, os números recentes e os projetos em andamento.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6265333"/>
            <a:ext cx="8466666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0" i="0">
                <a:solidFill>
                  <a:srgbClr val="9FAAC4"/>
                </a:solidFill>
                <a:latin typeface="DM Sans"/>
              </a:rPr>
              <a:t>Base: emissão de NF out/2026, weeklies Maped e Janod, e-mails e documentos do projeto até 21/10/2026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5E6A82"/>
                </a:solidFill>
                <a:latin typeface="DM Sans"/>
              </a:rPr>
              <a:t>VISÃO GERAL DA CONTA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Um cliente, duas marcas, R$ 43,4 mil por mês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846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Maped e Janod são faturadas para a mesma razão social, Maped do Brasil Ltda., em notas separadas por marca. Os reembolsos (caixas, fretes, insumos) saem em nota própria, a custo + 30%.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2218266"/>
            <a:ext cx="2963333" cy="1270000"/>
          </a:xfrm>
          <a:prstGeom prst="roundRect">
            <a:avLst>
              <a:gd name="adj" fmla="val 9333"/>
            </a:avLst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404533"/>
            <a:ext cx="2556933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E8C547"/>
                </a:solidFill>
                <a:latin typeface="Fraunces"/>
              </a:rPr>
              <a:t>R$ 43.397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1206"/>
            <a:ext cx="2556933" cy="471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B9C2D8"/>
                </a:solidFill>
                <a:latin typeface="DM Sans"/>
              </a:rPr>
              <a:t>fee mensal somado das duas marcas (out, nov e dez/2026)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3866" y="2218266"/>
            <a:ext cx="2540000" cy="1270000"/>
          </a:xfrm>
          <a:prstGeom prst="roundRect">
            <a:avLst>
              <a:gd name="adj" fmla="val 93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047066" y="2404533"/>
            <a:ext cx="2133600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D4ED8"/>
                </a:solidFill>
                <a:latin typeface="Fraunces"/>
              </a:rPr>
              <a:t>R$ 33.100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7066" y="2881206"/>
            <a:ext cx="2133600" cy="471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Maped · mídia, SAC, conteúdo e seeding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3200" y="2218266"/>
            <a:ext cx="2540000" cy="1270000"/>
          </a:xfrm>
          <a:prstGeom prst="roundRect">
            <a:avLst>
              <a:gd name="adj" fmla="val 93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56400" y="2404533"/>
            <a:ext cx="2133600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C2562E"/>
                </a:solidFill>
                <a:latin typeface="Fraunces"/>
              </a:rPr>
              <a:t>R$ 10.297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6400" y="2881206"/>
            <a:ext cx="2133600" cy="471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Janod · conteúdo, mídia, SAC e seeding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62533" y="2218266"/>
            <a:ext cx="2218266" cy="1270000"/>
          </a:xfrm>
          <a:prstGeom prst="roundRect">
            <a:avLst>
              <a:gd name="adj" fmla="val 93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465733" y="2404533"/>
            <a:ext cx="1811866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6233F"/>
                </a:solidFill>
                <a:latin typeface="Fraunces"/>
              </a:rPr>
              <a:t>+30%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5733" y="2881206"/>
            <a:ext cx="1811866" cy="471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sobre reembolsos e insumos, cobrados em NF separada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200" y="3657600"/>
            <a:ext cx="3479800" cy="169333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843866"/>
            <a:ext cx="3073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Como fatura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31733"/>
            <a:ext cx="3073400" cy="1083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Boleto no dia 14 para pagamento no dia 15. Em setembro: NFs 3138 e 3139 (Maped, R$ 34.094,53 com reembolso) e 3140 e 3141 (Janod, R$ 11.124,86 com reembolso).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0333" y="3657600"/>
            <a:ext cx="3479800" cy="169333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63533" y="3843866"/>
            <a:ext cx="3073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Verba de mídia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3533" y="4131733"/>
            <a:ext cx="3073400" cy="1083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Paga pela Maped direto aos veículos, fora do fee. Referência de abril: R$ 8 mil/mês Maped e R$ 5 mil/mês Janod. A MOVE envia a divisão por veículo até o dia 20.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9466" y="3657600"/>
            <a:ext cx="3479800" cy="169333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12666" y="3843866"/>
            <a:ext cx="3073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Rotina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2666" y="4131733"/>
            <a:ext cx="3073400" cy="1083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Weekly Maped e Janod às sextas com Bianca Dias e Juliana Patudo, deck mensal de conteúdo para aprovação e relatório global mensal com mídia, site e Gofind.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5E6A82"/>
                </a:solidFill>
                <a:latin typeface="DM Sans"/>
              </a:rPr>
              <a:t>MAPA DAS FRENTES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O que cada marca contrata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101600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Valores mensais da emissão de outubro/2026. "Incluso" significa entregue sem cobrança à parte.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1200" y="1778000"/>
          <a:ext cx="10769599" cy="39285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53920"/>
                <a:gridCol w="3524596"/>
                <a:gridCol w="1076960"/>
                <a:gridCol w="2937163"/>
                <a:gridCol w="1076960"/>
              </a:tblGrid>
              <a:tr h="491066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FRENTE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MAPED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VALOR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JANOD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VALOR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91066"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Produção de conteúdo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5 fotos, 4 gráficos, 4 vídeos FR, 1 vídeo BR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R$ 8.086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3 fotos, 3 gráficos, 2 vídeos 9:16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R$ 5.145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91066"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Redes sociais e inteligência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14 Meta · 8 Pinterest · 5 TikTok · 2 YouTube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incluso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8 Meta · 8 Pinterest · 2 TikTok · 2 YouTube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incluso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91066"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Mídia paga e tráfego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Meta, TikTok, Google*, Amazon, Mercado Livre, Shopee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R$ 10.094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Meta e Google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R$ 2.500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91066"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SAC 3.0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Redes, e-mail, reclamações e envios, WhatsApp RD, Reclame Aqui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R$ 12.820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Facebook e Instagram, até 300 interações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R$ 1.752,50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91066"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Influenciadores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7 seedings por mês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R$ 2.100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3 seedings por mês + collabs pagas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R$ 900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91066"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Relatórios, site e Gofind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Relatório mensal GA4 + Gofind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incluso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B3A5C"/>
                          </a:solidFill>
                          <a:latin typeface="DM Sans"/>
                        </a:rPr>
                        <a:t>GA4, Search Console + Gofind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incluso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91066"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Total mensal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R$ 33.100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30" b="1">
                          <a:solidFill>
                            <a:srgbClr val="16233F"/>
                          </a:solidFill>
                          <a:latin typeface="DM Sans"/>
                        </a:rPr>
                        <a:t>R$ 10.297,50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1200" y="6079066"/>
            <a:ext cx="107696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0" i="0">
                <a:solidFill>
                  <a:srgbClr val="5E6A82"/>
                </a:solidFill>
                <a:latin typeface="DM Sans"/>
              </a:rPr>
              <a:t>* Google de Maped consta na emissão sem valor (linha "não faturar"). Projetos à parte: Volta às Aulas 2027 (Maped) e proposta do site Maped México.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66666" y="-1693333"/>
            <a:ext cx="5418666" cy="5418666"/>
          </a:xfrm>
          <a:prstGeom prst="ellipse">
            <a:avLst/>
          </a:prstGeom>
          <a:solidFill>
            <a:srgbClr val="3D68E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0" y="508000"/>
            <a:ext cx="3894666" cy="143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0" b="1" i="0">
                <a:solidFill>
                  <a:srgbClr val="7FA2F0"/>
                </a:solidFill>
                <a:latin typeface="Fraunce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333" y="3979333"/>
            <a:ext cx="7620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E6ECFA"/>
                </a:solidFill>
                <a:latin typeface="DM Sans"/>
              </a:rPr>
              <a:t>MARCA 1 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7333" y="4233333"/>
            <a:ext cx="8466666" cy="1100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330" b="1" i="0">
                <a:solidFill>
                  <a:srgbClr val="FFFFFF"/>
                </a:solidFill>
                <a:latin typeface="Fraunces"/>
              </a:rPr>
              <a:t>Maped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333" y="5418666"/>
            <a:ext cx="7789333" cy="84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70" b="0" i="0">
                <a:solidFill>
                  <a:srgbClr val="F2F4FA"/>
                </a:solidFill>
                <a:latin typeface="DM Sans"/>
              </a:rPr>
              <a:t>Material escolar e de escritório. Conta completa: conteúdo, redes, mídia em cinco plataformas, marketplaces, SAC 3.0 em todos os canais, seeding mensal e a campanha anual de Volta às Aulas.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MAPED · COMPOSIÇÃO DO FEE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R$ 33.100 por mês, em quatro frentes faturadas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846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O SAC é a maior frente da conta, seguido de mídia e de produção. Redes sociais, relatórios e Reclame Aqui entram sem cobrança à parte.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243666"/>
            <a:ext cx="4171066" cy="186266"/>
          </a:xfrm>
          <a:prstGeom prst="rect">
            <a:avLst/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882266" y="2243666"/>
            <a:ext cx="3284728" cy="18626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166994" y="2243666"/>
            <a:ext cx="2631013" cy="186266"/>
          </a:xfrm>
          <a:prstGeom prst="rect">
            <a:avLst/>
          </a:prstGeom>
          <a:solidFill>
            <a:srgbClr val="7FA2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798007" y="2243666"/>
            <a:ext cx="682792" cy="186266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11200" y="2573866"/>
            <a:ext cx="93133" cy="93133"/>
          </a:xfrm>
          <a:prstGeom prst="ellipse">
            <a:avLst/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3600" y="2540000"/>
            <a:ext cx="2794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SAC 3.0 · R$ 12.820 · 39%</a:t>
            </a:r>
          </a:p>
        </p:txBody>
      </p:sp>
      <p:sp>
        <p:nvSpPr>
          <p:cNvPr id="11" name="Oval 10"/>
          <p:cNvSpPr/>
          <p:nvPr/>
        </p:nvSpPr>
        <p:spPr>
          <a:xfrm>
            <a:off x="2709333" y="2573866"/>
            <a:ext cx="93133" cy="9313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861733" y="2540000"/>
            <a:ext cx="2794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Mídia paga · R$ 10.094 · 30%</a:t>
            </a:r>
          </a:p>
        </p:txBody>
      </p:sp>
      <p:sp>
        <p:nvSpPr>
          <p:cNvPr id="13" name="Oval 12"/>
          <p:cNvSpPr/>
          <p:nvPr/>
        </p:nvSpPr>
        <p:spPr>
          <a:xfrm>
            <a:off x="4900506" y="2573866"/>
            <a:ext cx="93133" cy="93133"/>
          </a:xfrm>
          <a:prstGeom prst="ellipse">
            <a:avLst/>
          </a:prstGeom>
          <a:solidFill>
            <a:srgbClr val="7FA2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52906" y="2540000"/>
            <a:ext cx="2794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Produção · R$ 8.086 · 24%</a:t>
            </a:r>
          </a:p>
        </p:txBody>
      </p:sp>
      <p:sp>
        <p:nvSpPr>
          <p:cNvPr id="15" name="Oval 14"/>
          <p:cNvSpPr/>
          <p:nvPr/>
        </p:nvSpPr>
        <p:spPr>
          <a:xfrm>
            <a:off x="6898640" y="2573866"/>
            <a:ext cx="93133" cy="93133"/>
          </a:xfrm>
          <a:prstGeom prst="ellipse">
            <a:avLst/>
          </a:prstGeom>
          <a:solidFill>
            <a:srgbClr val="E8C54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51040" y="2540000"/>
            <a:ext cx="2794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Influenciadores · R$ 2.100 · 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200" y="3217333"/>
            <a:ext cx="2540000" cy="25400"/>
          </a:xfrm>
          <a:prstGeom prst="rect">
            <a:avLst/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3335866"/>
            <a:ext cx="2540000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742266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9" b="0" i="0">
                <a:solidFill>
                  <a:srgbClr val="5E6A82"/>
                </a:solidFill>
                <a:latin typeface="DM Sans"/>
              </a:rPr>
              <a:t>publicações por mês no Meta, com repost em Pinterest, TikTok e YouTube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4400" y="3217333"/>
            <a:ext cx="2540000" cy="25400"/>
          </a:xfrm>
          <a:prstGeom prst="rect">
            <a:avLst/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54400" y="3335866"/>
            <a:ext cx="2540000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4400" y="3742266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9" b="0" i="0">
                <a:solidFill>
                  <a:srgbClr val="5E6A82"/>
                </a:solidFill>
                <a:latin typeface="DM Sans"/>
              </a:rPr>
              <a:t>plataformas de mídia: Meta, Google, TikTok, Amazon, Mercado Livre e Shopee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7600" y="3217333"/>
            <a:ext cx="2540000" cy="25400"/>
          </a:xfrm>
          <a:prstGeom prst="rect">
            <a:avLst/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97600" y="3335866"/>
            <a:ext cx="2540000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1.000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7600" y="3742266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9" b="0" i="0">
                <a:solidFill>
                  <a:srgbClr val="5E6A82"/>
                </a:solidFill>
                <a:latin typeface="DM Sans"/>
              </a:rPr>
              <a:t>interações por mês no SAC de redes, mais 500 e-mails e 40 reclamações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217333"/>
            <a:ext cx="2540000" cy="25400"/>
          </a:xfrm>
          <a:prstGeom prst="rect">
            <a:avLst/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40800" y="3335866"/>
            <a:ext cx="2540000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0800" y="3742266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9" b="0" i="0">
                <a:solidFill>
                  <a:srgbClr val="5E6A82"/>
                </a:solidFill>
                <a:latin typeface="DM Sans"/>
              </a:rPr>
              <a:t>seedings por mês enviados pela MOVE, fora a Volta às Aulas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4741333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Histórico: R$ 35.547,82 em janeiro/2026, R$ 28 mil de março a maio e R$ 33.100 desde junho/2026, depois da reorganização do escopo por frente em abril. Saíram Pinterest pago e Google como linha cobrada; entraram os marketplaces e o vídeo BR.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MAPED · FRENTE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Produção de conteúdo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846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Nove posts produzidos pela MOVE todo mês, quatro vídeos adaptados do material da Maped França e um vídeo nacional com sazonalidade brasileira, pedido antigo da Juliana.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1200" y="2286000"/>
          <a:ext cx="5926665" cy="296333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65534"/>
                <a:gridCol w="3354716"/>
                <a:gridCol w="1006415"/>
              </a:tblGrid>
              <a:tr h="592666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ENTREGA MENSAL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DESCRITIVO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VALOR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5 fotos + 4 gráficos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3A5C"/>
                          </a:solidFill>
                          <a:latin typeface="DM Sans"/>
                        </a:rPr>
                        <a:t>Foto de produto e lifestyle, peças gráficas. Cerca de R$ 388 por post.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R$ 3.490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4 vídeos FR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3A5C"/>
                          </a:solidFill>
                          <a:latin typeface="DM Sans"/>
                        </a:rPr>
                        <a:t>Adaptação dos vídeos da matriz francesa para o Brasil.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R$ 1.596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1 vídeo BR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3A5C"/>
                          </a:solidFill>
                          <a:latin typeface="DM Sans"/>
                        </a:rPr>
                        <a:t>Roteiro e captação MOVE com datas e linguagem brasileiras.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R$ 3.000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Total da frente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R$ 8.086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74933" y="2286000"/>
            <a:ext cx="4605866" cy="2116666"/>
          </a:xfrm>
          <a:prstGeom prst="roundRect">
            <a:avLst>
              <a:gd name="adj" fmla="val 56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078133" y="2472266"/>
            <a:ext cx="41994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Como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8133" y="2760133"/>
            <a:ext cx="4199466" cy="150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Moodboard e "mood do mês", pedido de produtos à Bianca, shooting mensal e entrega no deck de conteúdo para aprovação. Para novembro: Canetinha Long Life 12, Color'Peps Infinity Jumbo e Star, Picnik Concept Miniz Tucano e Infinity 36, mais vídeo da linha Picnik Origins.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74933" y="4555066"/>
            <a:ext cx="4605866" cy="1270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78133" y="4741333"/>
            <a:ext cx="41994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8133" y="5029200"/>
            <a:ext cx="4199466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22/10: diária de vídeos de Maped e Janod com o videomaker Will. Responsáveis: Raquel Da Paz (produção e vídeo) e Laiane Moura (criação).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MAPED · FRENTE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Redes sociais e inteligência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846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Planejamento, calendário e publicação em quatro redes, com o mesmo conteúdo distribuído por formato. Incluso no pacote, sem cobrança à parte.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2218266"/>
            <a:ext cx="2540000" cy="1693333"/>
          </a:xfrm>
          <a:prstGeom prst="roundRect">
            <a:avLst>
              <a:gd name="adj" fmla="val 70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404533"/>
            <a:ext cx="2133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META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4666"/>
            <a:ext cx="2133600" cy="506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70" b="1" i="0">
                <a:solidFill>
                  <a:srgbClr val="16233F"/>
                </a:solidFill>
                <a:latin typeface="Fraunce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98706"/>
            <a:ext cx="2133600" cy="577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publicações: 5 fotos, 4 gráficos e 5 vídeos no Instagram e Facebook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4400" y="2218266"/>
            <a:ext cx="2540000" cy="1693333"/>
          </a:xfrm>
          <a:prstGeom prst="roundRect">
            <a:avLst>
              <a:gd name="adj" fmla="val 70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57600" y="2404533"/>
            <a:ext cx="2133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PINTEREST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24666"/>
            <a:ext cx="2133600" cy="506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70" b="1" i="0">
                <a:solidFill>
                  <a:srgbClr val="16233F"/>
                </a:solidFill>
                <a:latin typeface="Fraunces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98706"/>
            <a:ext cx="2133600" cy="577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pins orgânicos com fotos e vídeos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2218266"/>
            <a:ext cx="2540000" cy="1693333"/>
          </a:xfrm>
          <a:prstGeom prst="roundRect">
            <a:avLst>
              <a:gd name="adj" fmla="val 70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2404533"/>
            <a:ext cx="2133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TIKTOK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24666"/>
            <a:ext cx="2133600" cy="506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70" b="1" i="0">
                <a:solidFill>
                  <a:srgbClr val="16233F"/>
                </a:solidFill>
                <a:latin typeface="Fraunce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98706"/>
            <a:ext cx="2133600" cy="577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vídeos, todos também patrocinados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0800" y="2218266"/>
            <a:ext cx="2540000" cy="1693333"/>
          </a:xfrm>
          <a:prstGeom prst="roundRect">
            <a:avLst>
              <a:gd name="adj" fmla="val 70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0" y="2404533"/>
            <a:ext cx="2133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YOUTUBE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24666"/>
            <a:ext cx="2133600" cy="506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70" b="1" i="0">
                <a:solidFill>
                  <a:srgbClr val="16233F"/>
                </a:solidFill>
                <a:latin typeface="Fraunce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198706"/>
            <a:ext cx="2133600" cy="5774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Shorts por mês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1200" y="4080933"/>
            <a:ext cx="5300133" cy="169333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4267200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Deck mensal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55066"/>
            <a:ext cx="4893733" cy="1083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Ana Beatriz Morgado (planejamento e redes) e Carolina Loureiro montam o deck do mês com legendas, artes e datas. Outubro aprovado e agendado em 02/10. Novembro em produção, aguardando fotos e a lista de produtos com estoque alto enviada pela Bianca.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0666" y="4080933"/>
            <a:ext cx="5300133" cy="169333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83866" y="4267200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Inteligência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3866" y="4555066"/>
            <a:ext cx="4893733" cy="1083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Leitura de performance por post alimenta a escolha de temas e produtos do mês seguinte. Os mesmos 14 posts servem de base para as campanhas de seguidores e engajamento no Meta.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MAPED · FRENTE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Mídia paga e tráfego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1200" y="1481666"/>
          <a:ext cx="5418665" cy="33866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54666"/>
                <a:gridCol w="2935111"/>
                <a:gridCol w="1128888"/>
              </a:tblGrid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PLATAFORMA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ESCOPO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GESTÃO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Meta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Seguidores e engajamento dos 14 posts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R$ 3.849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TikTok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Patrocínio dos 5 vídeos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R$ 1.745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Amazon Ads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Produtos patrocinados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R$ 1.500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Mercado Livre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Product Ads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R$ 1.500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Shopee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Pausado em 01/10 (contrato com a Lepok)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R$ 1.500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Google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Branding, concorrentes, YouTube, PMax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não faturado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Total da frente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R$ 10.094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1200" y="4995333"/>
            <a:ext cx="5418666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E6A82"/>
                </a:solidFill>
                <a:latin typeface="DM Sans"/>
              </a:rPr>
              <a:t>Gestão: Gabrielle Duarte, com estratégia da Marina. Report semanal de plataformas para a weekly.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4666" y="1481666"/>
            <a:ext cx="5080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RESULTADO DA SEMANA · 09 A 16/10/2026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4666" y="1735666"/>
            <a:ext cx="2438400" cy="1540933"/>
          </a:xfrm>
          <a:prstGeom prst="roundRect">
            <a:avLst>
              <a:gd name="adj" fmla="val 7692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7866" y="1921933"/>
            <a:ext cx="203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META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7866" y="2142066"/>
            <a:ext cx="2032000" cy="369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88 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7866" y="2579793"/>
            <a:ext cx="2032000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pessoas alcançadas com R$ 1.078,40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2400" y="1735666"/>
            <a:ext cx="2438400" cy="1540933"/>
          </a:xfrm>
          <a:prstGeom prst="roundRect">
            <a:avLst>
              <a:gd name="adj" fmla="val 7692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245600" y="1921933"/>
            <a:ext cx="203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45600" y="2142066"/>
            <a:ext cx="2032000" cy="369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1.065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5600" y="2579793"/>
            <a:ext cx="2032000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conversões e 390 cliques com R$ 255,73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4666" y="3429000"/>
            <a:ext cx="2438400" cy="1540933"/>
          </a:xfrm>
          <a:prstGeom prst="roundRect">
            <a:avLst>
              <a:gd name="adj" fmla="val 7692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37866" y="3615266"/>
            <a:ext cx="203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TIKTOK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7866" y="3835400"/>
            <a:ext cx="2032000" cy="369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61,8 mil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7866" y="4273126"/>
            <a:ext cx="2032000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visualizações com R$ 170,32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2400" y="3429000"/>
            <a:ext cx="2438400" cy="1540933"/>
          </a:xfrm>
          <a:prstGeom prst="roundRect">
            <a:avLst>
              <a:gd name="adj" fmla="val 7692"/>
            </a:avLst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45600" y="3615266"/>
            <a:ext cx="203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C547"/>
                </a:solidFill>
                <a:latin typeface="DM Sans"/>
              </a:rPr>
              <a:t>AMAZON 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5600" y="3835400"/>
            <a:ext cx="2032000" cy="369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Fraunces"/>
              </a:rPr>
              <a:t>ROAS 6,67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5600" y="4273126"/>
            <a:ext cx="2032000" cy="561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B9C2D8"/>
                </a:solidFill>
                <a:latin typeface="DM Sans"/>
              </a:rPr>
              <a:t>R$ 1.251,11 em vendas com R$ 187,54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MAPED · FRENTE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Marketplaces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846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Frente aberta em abril com o Guilherme Azevedo, responsável de marketplace na Maped: mídia dentro dos marketplaces, rastreio e avaliações levadas ao SAC.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2218266"/>
            <a:ext cx="2540000" cy="2370666"/>
          </a:xfrm>
          <a:prstGeom prst="roundRect">
            <a:avLst>
              <a:gd name="adj" fmla="val 50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14400" y="2404533"/>
            <a:ext cx="465666" cy="203200"/>
          </a:xfrm>
          <a:prstGeom prst="roundRect">
            <a:avLst>
              <a:gd name="adj" fmla="val 50000"/>
            </a:avLst>
          </a:prstGeom>
          <a:solidFill>
            <a:srgbClr val="DCEFE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446866"/>
            <a:ext cx="465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2F7D5B"/>
                </a:solidFill>
                <a:latin typeface="DM Sans"/>
              </a:rPr>
              <a:t>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09333"/>
            <a:ext cx="2133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Amazon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7200"/>
            <a:ext cx="2133600" cy="145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Ads com lista de produtos da Bianca já subida. ROAS entre 5,6 e 6,9 nas últimas semanas. Pedido de rastreio por UTM.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4400" y="2218266"/>
            <a:ext cx="2540000" cy="2370666"/>
          </a:xfrm>
          <a:prstGeom prst="roundRect">
            <a:avLst>
              <a:gd name="adj" fmla="val 50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657600" y="2404533"/>
            <a:ext cx="465666" cy="203200"/>
          </a:xfrm>
          <a:prstGeom prst="roundRect">
            <a:avLst>
              <a:gd name="adj" fmla="val 50000"/>
            </a:avLst>
          </a:prstGeom>
          <a:solidFill>
            <a:srgbClr val="DCEFE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57600" y="2446866"/>
            <a:ext cx="465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2F7D5B"/>
                </a:solidFill>
                <a:latin typeface="DM Sans"/>
              </a:rPr>
              <a:t>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09333"/>
            <a:ext cx="2133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Mercado Livre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97200"/>
            <a:ext cx="2133600" cy="145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Product Ads. Cinco sellers na plataforma, dois performam. Atenção ao risco de canibalização entre eles.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7600" y="2218266"/>
            <a:ext cx="2540000" cy="2370666"/>
          </a:xfrm>
          <a:prstGeom prst="roundRect">
            <a:avLst>
              <a:gd name="adj" fmla="val 50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0" y="2404533"/>
            <a:ext cx="604520" cy="203200"/>
          </a:xfrm>
          <a:prstGeom prst="roundRect">
            <a:avLst>
              <a:gd name="adj" fmla="val 50000"/>
            </a:avLst>
          </a:prstGeom>
          <a:solidFill>
            <a:srgbClr val="F8EBC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2446866"/>
            <a:ext cx="60452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B7791F"/>
                </a:solidFill>
                <a:latin typeface="DM Sans"/>
              </a:rPr>
              <a:t>PAUSADO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09333"/>
            <a:ext cx="2133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Shopee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97200"/>
            <a:ext cx="2133600" cy="145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Operação da Lepok. A campanha MOVE fez ROAS 5,19 e foi desligada em 01/10 por questão contratual. A linha segue na emissão: confirmar com a Maped.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0800" y="2218266"/>
            <a:ext cx="2540000" cy="2370666"/>
          </a:xfrm>
          <a:prstGeom prst="roundRect">
            <a:avLst>
              <a:gd name="adj" fmla="val 50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144000" y="2404533"/>
            <a:ext cx="812800" cy="203200"/>
          </a:xfrm>
          <a:prstGeom prst="roundRect">
            <a:avLst>
              <a:gd name="adj" fmla="val 50000"/>
            </a:avLst>
          </a:prstGeom>
          <a:solidFill>
            <a:srgbClr val="E2DCC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0" y="2446866"/>
            <a:ext cx="8128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5E6A82"/>
                </a:solidFill>
                <a:latin typeface="DM Sans"/>
              </a:rPr>
              <a:t>EM CRIAÇÃO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709333"/>
            <a:ext cx="2133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TikTok 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97200"/>
            <a:ext cx="2133600" cy="145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Conta e vitrine em criação, piloto sugerido pela MOVE. Ariene envia a senha. Ainda sem valor definido.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200" y="4758266"/>
            <a:ext cx="10769600" cy="10160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4400" y="4944533"/>
            <a:ext cx="10363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Metas da Shopee apresentadas pela Lepok (abril)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32400"/>
            <a:ext cx="103632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R$ 50 mil/mês de maio a julho, R$ 100 mil/mês nos dois meses seguintes e R$ 300 mil em dezembro, com foco nos 10 a 20 SKUs principais, afiliados e lives semanais.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MAPED · FRENTE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SAC 3.0 · atendimento digital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1200" y="1481666"/>
          <a:ext cx="6603999" cy="3674531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22035"/>
                <a:gridCol w="3939228"/>
                <a:gridCol w="1042736"/>
              </a:tblGrid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CANAL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ESCOPO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VALOR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Redes sociais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Instagram + stories, Facebook + Messenger e TikTok. Até 1.000 interações, segunda a segunda, repost 2x ao dia, SLA 24h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R$ 6.048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E-mail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SAC por e-mail, até 500 mensagens, segunda a segunda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R$ 2.444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Reclamações e envios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Planilhas de endereços, controle e acompanhamento, até 40 por mês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R$ 2.328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WhatsApp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RD Station e automações do bot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R$ 2.000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Reclame Aqui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0">
                          <a:solidFill>
                            <a:srgbClr val="2B3A5C"/>
                          </a:solidFill>
                          <a:latin typeface="DM Sans"/>
                        </a:rPr>
                        <a:t>Atendimento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bonificado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Total da frente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69" b="1">
                          <a:solidFill>
                            <a:srgbClr val="16233F"/>
                          </a:solidFill>
                          <a:latin typeface="DM Sans"/>
                        </a:rPr>
                        <a:t>R$ 12.820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35333" y="1481666"/>
            <a:ext cx="3945466" cy="1693333"/>
          </a:xfrm>
          <a:prstGeom prst="roundRect">
            <a:avLst>
              <a:gd name="adj" fmla="val 7000"/>
            </a:avLst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38533" y="1667933"/>
            <a:ext cx="353906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C547"/>
                </a:solidFill>
                <a:latin typeface="DM Sans"/>
              </a:rPr>
              <a:t>WEEKLY DE 09/10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38533" y="1888066"/>
            <a:ext cx="3539066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Fraunce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38533" y="2423160"/>
            <a:ext cx="3539066" cy="6163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B9C2D8"/>
                </a:solidFill>
                <a:latin typeface="DM Sans"/>
              </a:rPr>
              <a:t>interações na semana: 54 positivas, 4 neutras e 3 dúvidas. Ocorrências em 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35333" y="3344333"/>
            <a:ext cx="3945466" cy="1947333"/>
          </a:xfrm>
          <a:prstGeom prst="roundRect">
            <a:avLst>
              <a:gd name="adj" fmla="val 6086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38533" y="3530600"/>
            <a:ext cx="35390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Equipe e próximos passos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8533" y="3818466"/>
            <a:ext cx="3539066" cy="1337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Naiara Capuzzo e Ariene Nogueira. Relatórios de Maped e Janod migrando para o novo layout (08/10). Avaliações de marketplace devem ser centralizadas no SAC.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MAPED · FRENTE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Influenciadores e seeding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846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Sete envios por mês selecionados e enviados pela MOVE. O fee cobre curadoria, aprovação e acompanhamento; caixas e fretes entram no reembolso.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2218266"/>
            <a:ext cx="3048000" cy="1947333"/>
          </a:xfrm>
          <a:prstGeom prst="roundRect">
            <a:avLst>
              <a:gd name="adj" fmla="val 6086"/>
            </a:avLst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404533"/>
            <a:ext cx="2641600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C547"/>
                </a:solidFill>
                <a:latin typeface="Fraunce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39626"/>
            <a:ext cx="2641600" cy="109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B9C2D8"/>
                </a:solidFill>
                <a:latin typeface="DM Sans"/>
              </a:rPr>
              <a:t>seedings por mês · R$ 2.100. Mailings de novembro e dezembro enviados em 21/10, adiantados por causa das agendas de fim de ano.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28533" y="2218266"/>
            <a:ext cx="3691466" cy="1947333"/>
          </a:xfrm>
          <a:prstGeom prst="roundRect">
            <a:avLst>
              <a:gd name="adj" fmla="val 6086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31733" y="2404533"/>
            <a:ext cx="32850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Novembro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1733" y="2692400"/>
            <a:ext cx="3285066" cy="1337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@teacherpaulagabriela · @jaquesfernandes · @sofiakalimann · @mjenckel · @rebeccaarielloficial · @gabriellydaf · @lanas_daily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89333" y="2218266"/>
            <a:ext cx="3691466" cy="1947333"/>
          </a:xfrm>
          <a:prstGeom prst="roundRect">
            <a:avLst>
              <a:gd name="adj" fmla="val 6086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92533" y="2404533"/>
            <a:ext cx="32850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Dezembro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2533" y="2692400"/>
            <a:ext cx="3285066" cy="1337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@iriscustodiob · @camilepasquarelli · @mamaekaren · @arthuryera · @maya.dias · @amaeriana · @gabimuxagata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200" y="4334933"/>
            <a:ext cx="5300133" cy="143933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4521200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Press kits em circulação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9066"/>
            <a:ext cx="4893733" cy="829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Dragon Collection e Planetinhas, além de Long Life e Infinity. A linha dragão também inspirou a ideia de ação de Halloween e da caixa 3D como press kit.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0666" y="4334933"/>
            <a:ext cx="5300133" cy="1439333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83866" y="4521200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Natal e Volta às Aulas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3866" y="4809066"/>
            <a:ext cx="4893733" cy="829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Mailing VA de dezembro enviado em 21/10. Orçamento do Lucas Blay para o Natal e novos nomes até o fim de outubro. Responsável: Bia (Influenciadores).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MAPED · FRENTE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Site, relatórios e Gofind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846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A MOVE não desenvolve o site da Maped, mas mede e reporta. Desde setembro o relatório do site entra no relatório global mensal, junto com mídia e localizador de lojas.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2218266"/>
            <a:ext cx="3454400" cy="2032000"/>
          </a:xfrm>
          <a:prstGeom prst="roundRect">
            <a:avLst>
              <a:gd name="adj" fmla="val 58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404533"/>
            <a:ext cx="304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SITE · SETEMBRO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4666"/>
            <a:ext cx="3048000" cy="486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29" b="1" i="0">
                <a:solidFill>
                  <a:srgbClr val="16233F"/>
                </a:solidFill>
                <a:latin typeface="Fraunces"/>
              </a:rPr>
              <a:t>2.873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79233"/>
            <a:ext cx="3048000" cy="935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sessões. Busca paga trouxe 26% das visitas. "Canhoto" foi o termo mais buscado e o Kit Kidy Learn o produto mais visto.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800" y="2218266"/>
            <a:ext cx="3454400" cy="2032000"/>
          </a:xfrm>
          <a:prstGeom prst="roundRect">
            <a:avLst>
              <a:gd name="adj" fmla="val 58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2404533"/>
            <a:ext cx="304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GOFIND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24666"/>
            <a:ext cx="3048000" cy="486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29" b="1" i="0">
                <a:solidFill>
                  <a:srgbClr val="16233F"/>
                </a:solidFill>
                <a:latin typeface="Fraunces"/>
              </a:rPr>
              <a:t>1 conta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79233"/>
            <a:ext cx="3048000" cy="935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Maped + Janod no localizador de produto. Usuário próprio da Gabrielle criado em 20/10 para cruzar mídia com procura em loja.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6400" y="2218266"/>
            <a:ext cx="3454400" cy="2032000"/>
          </a:xfrm>
          <a:prstGeom prst="roundRect">
            <a:avLst>
              <a:gd name="adj" fmla="val 58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0" y="2404533"/>
            <a:ext cx="304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RELATÓRIO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24666"/>
            <a:ext cx="3048000" cy="486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29" b="1" i="0">
                <a:solidFill>
                  <a:srgbClr val="16233F"/>
                </a:solidFill>
                <a:latin typeface="Fraunces"/>
              </a:rPr>
              <a:t>mensal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79233"/>
            <a:ext cx="3048000" cy="935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Mídia, redes, site (GA4) e Gofind num só documento para a liderança da Maped.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200" y="4419600"/>
            <a:ext cx="10769600" cy="1185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14400" y="4605866"/>
            <a:ext cx="743373" cy="203200"/>
          </a:xfrm>
          <a:prstGeom prst="roundRect">
            <a:avLst>
              <a:gd name="adj" fmla="val 50000"/>
            </a:avLst>
          </a:prstGeom>
          <a:solidFill>
            <a:srgbClr val="F8EBC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648200"/>
            <a:ext cx="743373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B7791F"/>
                </a:solidFill>
                <a:latin typeface="DM Sans"/>
              </a:rPr>
              <a:t>PENDÊNCIA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10666"/>
            <a:ext cx="10363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GTM do 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98533"/>
            <a:ext cx="10363200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Descobrir quem administra o Google Tag Manager (time Maped ou agência do site) para voltar a medir os cliques nas lojas parceiras e o formulário Fale Conosco.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MAPED · PROJETO ESPECIAL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Volta às Aulas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973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A campanha mais importante do ano. Começa sexta, 11/12/2026, às 17h, e vai até 05/02/2027: 57 dias em quatro fases, com filme manifesto, seeding em ondas e mídia separada do Always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2218266"/>
            <a:ext cx="2590800" cy="1524000"/>
          </a:xfrm>
          <a:prstGeom prst="roundRect">
            <a:avLst>
              <a:gd name="adj" fmla="val 7777"/>
            </a:avLst>
          </a:prstGeom>
          <a:solidFill>
            <a:srgbClr val="7FA2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387600"/>
            <a:ext cx="22013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EEFC"/>
                </a:solidFill>
                <a:latin typeface="DM Sans"/>
              </a:rPr>
              <a:t>FASE 1 · 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90800"/>
            <a:ext cx="2201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Fraunces"/>
              </a:rPr>
              <a:t>Aquecimento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2533"/>
            <a:ext cx="2201333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DM Sans"/>
              </a:rPr>
              <a:t>11 a 23/12. Lançamento do manifesto, 20 influenciadores de SP recebem kit em mãos.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4400" y="2218266"/>
            <a:ext cx="2590800" cy="1524000"/>
          </a:xfrm>
          <a:prstGeom prst="roundRect">
            <a:avLst>
              <a:gd name="adj" fmla="val 7777"/>
            </a:avLst>
          </a:prstGeom>
          <a:solidFill>
            <a:srgbClr val="4C78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57600" y="2387600"/>
            <a:ext cx="22013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EEFC"/>
                </a:solidFill>
                <a:latin typeface="DM Sans"/>
              </a:rPr>
              <a:t>FASE 2 · 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90800"/>
            <a:ext cx="2201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Fraunces"/>
              </a:rPr>
              <a:t>A Lista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12533"/>
            <a:ext cx="2201333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DM Sans"/>
              </a:rPr>
              <a:t>24/12 a 11/01. Lista de material, volta com força em 05/01.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7600" y="2218266"/>
            <a:ext cx="2590800" cy="1524000"/>
          </a:xfrm>
          <a:prstGeom prst="roundRect">
            <a:avLst>
              <a:gd name="adj" fmla="val 7777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2387600"/>
            <a:ext cx="22013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EEFC"/>
                </a:solidFill>
                <a:latin typeface="DM Sans"/>
              </a:rPr>
              <a:t>FASE 3 · 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90800"/>
            <a:ext cx="2201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Fraunces"/>
              </a:rPr>
              <a:t>Pico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12533"/>
            <a:ext cx="2201333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DM Sans"/>
              </a:rPr>
              <a:t>12 a 26/01. Maior verba, segunda e terceira ondas de seeding.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0800" y="2218266"/>
            <a:ext cx="2590800" cy="1524000"/>
          </a:xfrm>
          <a:prstGeom prst="roundRect">
            <a:avLst>
              <a:gd name="adj" fmla="val 7777"/>
            </a:avLst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0" y="2387600"/>
            <a:ext cx="22013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EEFC"/>
                </a:solidFill>
                <a:latin typeface="DM Sans"/>
              </a:rPr>
              <a:t>FASE 4 ·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90800"/>
            <a:ext cx="2201333" cy="270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Fraunces"/>
              </a:rPr>
              <a:t>Última chamada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912533"/>
            <a:ext cx="2201333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DM Sans"/>
              </a:rPr>
              <a:t>27/01 a 05/02. Repique até o Carnaval.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1200" y="3911600"/>
            <a:ext cx="3454400" cy="1778000"/>
          </a:xfrm>
          <a:prstGeom prst="roundRect">
            <a:avLst>
              <a:gd name="adj" fmla="val 6666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4097866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Conteúdo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85733"/>
            <a:ext cx="3048000" cy="116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Filme manifesto de 60s com cortes de 30, 15 e 6s, verticais 9:16 e stills. 8 fotos e 3 vídeos no shooting.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8800" y="3911600"/>
            <a:ext cx="3454400" cy="1778000"/>
          </a:xfrm>
          <a:prstGeom prst="roundRect">
            <a:avLst>
              <a:gd name="adj" fmla="val 6666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0" y="4097866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Influenciadores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85733"/>
            <a:ext cx="3048000" cy="116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50 seedings (20 em dezembro, 30 em janeiro) com sacola Maped e press kit por perfil. Meta de 30 a 50 vídeos.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6400" y="3911600"/>
            <a:ext cx="3454400" cy="1778000"/>
          </a:xfrm>
          <a:prstGeom prst="roundRect">
            <a:avLst>
              <a:gd name="adj" fmla="val 6666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0" y="4097866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Canais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385733"/>
            <a:ext cx="3048000" cy="116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Meta, Google, TikTok, Amazon, Pinterest em teste e Shopee. Logo "Volta às Aulas 2027" nos perfis até o Carnaval.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VOLTA ÀS AULAS 2027 · ORÇAMENTO V3 (08/10/2026)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R$ 188.880 de campanha, R$ 58.980 para a MOVE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1200" y="1481666"/>
          <a:ext cx="5926664" cy="33866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61449"/>
                <a:gridCol w="1288405"/>
                <a:gridCol w="1288405"/>
                <a:gridCol w="1288405"/>
              </a:tblGrid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MÍDIA POR PLATAFORMA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DEZEMBRO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JANEIRO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Meta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R$ 12.500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R$ 16.000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R$ 28.500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Google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R$ 6.000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R$ 13.000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R$ 19.000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TikTok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R$ 6.000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R$ 7.000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R$ 13.000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Amazon Ads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R$ 2.000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R$ 7.000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R$ 9.000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Pinterest (teste)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R$ 2.500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R$ 3.500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R$ 6.000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Shopee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R$ 3.400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R$ 4.400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Mídia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R$ 30.000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R$ 49.900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R$ 79.900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2666" y="1481666"/>
          <a:ext cx="4538132" cy="211666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19966"/>
                <a:gridCol w="1418166"/>
              </a:tblGrid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OUTRAS LINHAS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VALOR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Influenciadores pagos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R$ 50.000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Seeding 50 influenciadores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R$ 15.000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BV mídia 20% + BV influ 20%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R$ 25.980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233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Shooting (outubro)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R$ 18.000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42666" y="3767666"/>
            <a:ext cx="4538133" cy="1100666"/>
          </a:xfrm>
          <a:prstGeom prst="roundRect">
            <a:avLst>
              <a:gd name="adj" fmla="val 10769"/>
            </a:avLst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45866" y="3953933"/>
            <a:ext cx="41317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C547"/>
                </a:solidFill>
                <a:latin typeface="DM Sans"/>
              </a:rPr>
              <a:t>FATURAMENTO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5866" y="4174066"/>
            <a:ext cx="4131733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D5DBEA"/>
                </a:solidFill>
                <a:latin typeface="DM Sans"/>
              </a:rPr>
              <a:t>Outubro R$ 18.000 (shooting) · Dezembro R$ 15.000 · Janeiro R$ 25.980. Total R$ 58.980.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5418666"/>
            <a:ext cx="10769600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B7791F"/>
                </a:solidFill>
                <a:latin typeface="DM Sans"/>
              </a:rPr>
              <a:t>AGUARDANDO  </a:t>
            </a:r>
            <a:r>
              <a:rPr sz="930" b="0" i="0">
                <a:solidFill>
                  <a:srgbClr val="5E6A82"/>
                </a:solidFill>
                <a:latin typeface="DM Sans"/>
              </a:rPr>
              <a:t>Bianca e Juliana ainda precisam confirmar por escrito orçamento, cronograma e divisão por mês. LinkedIn e blog saíram do escopo a pedido da Bianca.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1D4ED8"/>
                </a:solidFill>
                <a:latin typeface="DM Sans"/>
              </a:rPr>
              <a:t>VOLTA ÀS AULAS 2027 · PRODUÇÃO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Shooting com elenco infantil, sob alvará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1200" y="1524000"/>
            <a:ext cx="3454400" cy="2116666"/>
          </a:xfrm>
          <a:prstGeom prst="roundRect">
            <a:avLst>
              <a:gd name="adj" fmla="val 56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10266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Onde e quando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8133"/>
            <a:ext cx="3048000" cy="150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Studio Dupret, Rua Leandro Dupret, 702, Vila Clementino. Contrato de locação aprovado por Rodrigo Westphal em 20/10, até 22 pessoas. Data provisória: 12/11, das 9h às 18h, condicionada ao alvará.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800" y="1524000"/>
            <a:ext cx="3454400" cy="2116666"/>
          </a:xfrm>
          <a:prstGeom prst="roundRect">
            <a:avLst>
              <a:gd name="adj" fmla="val 56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0" y="1710266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Equipe e elenco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98133"/>
            <a:ext cx="3048000" cy="150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Fotos: Raphaela Neves. Vídeo: Willian Beckmann (Will). Cinco crianças de até 6 anos pela Cintra Produções, R$ 720 cada com agenciamento, uso de imagem por 12 meses em mídias digitais.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6400" y="1524000"/>
            <a:ext cx="3454400" cy="2116666"/>
          </a:xfrm>
          <a:prstGeom prst="roundRect">
            <a:avLst>
              <a:gd name="adj" fmla="val 56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0" y="1710266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Custo previsto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98133"/>
            <a:ext cx="3048000" cy="1507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R$ 14.050: estúdio R$ 1.500, vídeo R$ 2.150, foto R$ 800, crianças R$ 3.600, alvará R$ 3.000, comida, maquiagem e figurino R$ 1.000 cada.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200" y="3810000"/>
            <a:ext cx="10769600" cy="1947333"/>
          </a:xfrm>
          <a:prstGeom prst="roundRect">
            <a:avLst>
              <a:gd name="adj" fmla="val 6086"/>
            </a:avLst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3996266"/>
            <a:ext cx="1016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C547"/>
                </a:solidFill>
                <a:latin typeface="DM Sans"/>
              </a:rPr>
              <a:t>CUIDADOS JURÍDICOS · ORIENTAÇÃO FERNANDA FERRARI (20/10)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0266"/>
            <a:ext cx="5080000" cy="143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30" b="0" i="0">
                <a:solidFill>
                  <a:srgbClr val="D5DBEA"/>
                </a:solidFill>
                <a:latin typeface="DM Sans"/>
              </a:rPr>
              <a:t>•  Sem alvará deferido, não há captação. A MOVE é a requerente e a Cintra protocola.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30" b="0" i="0">
                <a:solidFill>
                  <a:srgbClr val="D5DBEA"/>
                </a:solidFill>
                <a:latin typeface="DM Sans"/>
              </a:rPr>
              <a:t>•  Jornada máxima de 6 horas por criança, já contando pausas e lanche.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30" b="0" i="0">
                <a:solidFill>
                  <a:srgbClr val="D5DBEA"/>
                </a:solidFill>
                <a:latin typeface="DM Sans"/>
              </a:rPr>
              <a:t>•  Termo de autorização assinado por cada responsável legal antes da captação.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0666" y="4250266"/>
            <a:ext cx="5080000" cy="143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30" b="0" i="0">
                <a:solidFill>
                  <a:srgbClr val="D5DBEA"/>
                </a:solidFill>
                <a:latin typeface="DM Sans"/>
              </a:rPr>
              <a:t>•  Pagamento no prazo, com NF da agência e comprovante guardados.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30" b="0" i="0">
                <a:solidFill>
                  <a:srgbClr val="D5DBEA"/>
                </a:solidFill>
                <a:latin typeface="DM Sans"/>
              </a:rPr>
              <a:t>•  Making of fotográfico como prova de conformidade.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30" b="0" i="0">
                <a:solidFill>
                  <a:srgbClr val="D5DBEA"/>
                </a:solidFill>
                <a:latin typeface="DM Sans"/>
              </a:rPr>
              <a:t>•  O inquérito do MPT de 2025 foi arquivado sem irregularidades. O novo alvará tende a gerar novo inquérito de ofício.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25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66666" y="-1693333"/>
            <a:ext cx="5418666" cy="5418666"/>
          </a:xfrm>
          <a:prstGeom prst="ellipse">
            <a:avLst/>
          </a:prstGeom>
          <a:solidFill>
            <a:srgbClr val="CB6A4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0" y="508000"/>
            <a:ext cx="3894666" cy="143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0" b="1" i="0">
                <a:solidFill>
                  <a:srgbClr val="DE9273"/>
                </a:solidFill>
                <a:latin typeface="Fraunce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333" y="3979333"/>
            <a:ext cx="7620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F8E3D9"/>
                </a:solidFill>
                <a:latin typeface="DM Sans"/>
              </a:rPr>
              <a:t>MARCA 2 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7333" y="4233333"/>
            <a:ext cx="8466666" cy="1100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330" b="1" i="0">
                <a:solidFill>
                  <a:srgbClr val="FFFFFF"/>
                </a:solidFill>
                <a:latin typeface="Fraunces"/>
              </a:rPr>
              <a:t>Janod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333" y="5418666"/>
            <a:ext cx="7789333" cy="84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70" b="0" i="0">
                <a:solidFill>
                  <a:srgbClr val="F2F4FA"/>
                </a:solidFill>
                <a:latin typeface="DM Sans"/>
              </a:rPr>
              <a:t>Brinquedos franceses de madeira, marca premium do grupo. Conta enxuta e focada em conteúdo de qualidade, mídia de marca, SAC e influenciadores de alto encaixe.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C2562E"/>
                </a:solidFill>
                <a:latin typeface="DM Sans"/>
              </a:rPr>
              <a:t>JANOD · COMPOSIÇÃO DO FEE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R$ 10.297,50 por mês, com metade em conteúdo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846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Na Janod o peso está na produção: fotos e vídeos que traduzem uma marca cara e sensorial. É também o piso de preço do grupo para redes sociais.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243666"/>
            <a:ext cx="5380492" cy="186266"/>
          </a:xfrm>
          <a:prstGeom prst="rect">
            <a:avLst/>
          </a:prstGeom>
          <a:solidFill>
            <a:srgbClr val="C256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091692" y="2243666"/>
            <a:ext cx="2614858" cy="186266"/>
          </a:xfrm>
          <a:prstGeom prst="rect">
            <a:avLst/>
          </a:prstGeom>
          <a:solidFill>
            <a:srgbClr val="E39A7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706551" y="2243666"/>
            <a:ext cx="1832985" cy="186266"/>
          </a:xfrm>
          <a:prstGeom prst="rect">
            <a:avLst/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539537" y="2243666"/>
            <a:ext cx="941263" cy="186266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11200" y="2573866"/>
            <a:ext cx="93133" cy="93133"/>
          </a:xfrm>
          <a:prstGeom prst="ellipse">
            <a:avLst/>
          </a:prstGeom>
          <a:solidFill>
            <a:srgbClr val="C256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3600" y="2540000"/>
            <a:ext cx="2794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Produção · R$ 5.145 · 50%</a:t>
            </a:r>
          </a:p>
        </p:txBody>
      </p:sp>
      <p:sp>
        <p:nvSpPr>
          <p:cNvPr id="11" name="Oval 10"/>
          <p:cNvSpPr/>
          <p:nvPr/>
        </p:nvSpPr>
        <p:spPr>
          <a:xfrm>
            <a:off x="2709333" y="2573866"/>
            <a:ext cx="93133" cy="93133"/>
          </a:xfrm>
          <a:prstGeom prst="ellipse">
            <a:avLst/>
          </a:prstGeom>
          <a:solidFill>
            <a:srgbClr val="E39A7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861733" y="2540000"/>
            <a:ext cx="2794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Mídia paga · R$ 2.500 · 24%</a:t>
            </a:r>
          </a:p>
        </p:txBody>
      </p:sp>
      <p:sp>
        <p:nvSpPr>
          <p:cNvPr id="13" name="Oval 12"/>
          <p:cNvSpPr/>
          <p:nvPr/>
        </p:nvSpPr>
        <p:spPr>
          <a:xfrm>
            <a:off x="4836160" y="2573866"/>
            <a:ext cx="93133" cy="93133"/>
          </a:xfrm>
          <a:prstGeom prst="ellipse">
            <a:avLst/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88560" y="2540000"/>
            <a:ext cx="2794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SAC 3.0 · R$ 1.752,50 · 17%</a:t>
            </a:r>
          </a:p>
        </p:txBody>
      </p:sp>
      <p:sp>
        <p:nvSpPr>
          <p:cNvPr id="15" name="Oval 14"/>
          <p:cNvSpPr/>
          <p:nvPr/>
        </p:nvSpPr>
        <p:spPr>
          <a:xfrm>
            <a:off x="6962986" y="2573866"/>
            <a:ext cx="93133" cy="93133"/>
          </a:xfrm>
          <a:prstGeom prst="ellipse">
            <a:avLst/>
          </a:prstGeom>
          <a:solidFill>
            <a:srgbClr val="E8C54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15386" y="2540000"/>
            <a:ext cx="2794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Seeding · R$ 900 · 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200" y="3217333"/>
            <a:ext cx="2540000" cy="25400"/>
          </a:xfrm>
          <a:prstGeom prst="rect">
            <a:avLst/>
          </a:prstGeom>
          <a:solidFill>
            <a:srgbClr val="C256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3335866"/>
            <a:ext cx="2540000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742266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9" b="0" i="0">
                <a:solidFill>
                  <a:srgbClr val="5E6A82"/>
                </a:solidFill>
                <a:latin typeface="DM Sans"/>
              </a:rPr>
              <a:t>peças produzidas por mês: 3 fotos, 3 gráficos e 2 vídeos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4400" y="3217333"/>
            <a:ext cx="2540000" cy="25400"/>
          </a:xfrm>
          <a:prstGeom prst="rect">
            <a:avLst/>
          </a:prstGeom>
          <a:solidFill>
            <a:srgbClr val="C256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54400" y="3335866"/>
            <a:ext cx="2540000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4400" y="3742266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9" b="0" i="0">
                <a:solidFill>
                  <a:srgbClr val="5E6A82"/>
                </a:solidFill>
                <a:latin typeface="DM Sans"/>
              </a:rPr>
              <a:t>redes: Meta, Pinterest, TikTok e YouTube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7600" y="3217333"/>
            <a:ext cx="2540000" cy="25400"/>
          </a:xfrm>
          <a:prstGeom prst="rect">
            <a:avLst/>
          </a:prstGeom>
          <a:solidFill>
            <a:srgbClr val="C256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97600" y="3335866"/>
            <a:ext cx="2540000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7600" y="3742266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9" b="0" i="0">
                <a:solidFill>
                  <a:srgbClr val="5E6A82"/>
                </a:solidFill>
                <a:latin typeface="DM Sans"/>
              </a:rPr>
              <a:t>interações por mês no SAC, de segunda a sexta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217333"/>
            <a:ext cx="2540000" cy="25400"/>
          </a:xfrm>
          <a:prstGeom prst="rect">
            <a:avLst/>
          </a:prstGeom>
          <a:solidFill>
            <a:srgbClr val="C256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40800" y="3335866"/>
            <a:ext cx="2540000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0800" y="3742266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9" b="0" i="0">
                <a:solidFill>
                  <a:srgbClr val="5E6A82"/>
                </a:solidFill>
                <a:latin typeface="DM Sans"/>
              </a:rPr>
              <a:t>seedings por mês, todos aprovados até janeiro/2027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4741333"/>
            <a:ext cx="10769600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Histórico: cerca de R$ 8 mil/mês de fevereiro a maio de 2026 e R$ 10.297,50 desde junho, com a volta do Google e a entrada do seeding.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C2562E"/>
                </a:solidFill>
                <a:latin typeface="DM Sans"/>
              </a:rPr>
              <a:t>JANOD · FRENTES 1 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Produção de conteúdo e redes sociais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1200" y="1481666"/>
          <a:ext cx="6096000" cy="262466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3413760"/>
                <a:gridCol w="1219200"/>
              </a:tblGrid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ENTREGA MENSAL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DESCRITIVO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VALOR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3 fotos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3A5C"/>
                          </a:solidFill>
                          <a:latin typeface="DM Sans"/>
                        </a:rPr>
                        <a:t>Cenário de quarto infantil e madeira, cara de Janod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R$ 1.139,25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3 gráficos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3A5C"/>
                          </a:solidFill>
                          <a:latin typeface="DM Sans"/>
                        </a:rPr>
                        <a:t>Peças de produto, benefícios e datas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R$ 1.139,25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2 vídeos 9:16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3A5C"/>
                          </a:solidFill>
                          <a:latin typeface="DM Sans"/>
                        </a:rPr>
                        <a:t>Roteiro e captação MOVE, com limite de alterações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R$ 2.866,50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249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Total da frente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R$ 5.145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1200" y="4233333"/>
            <a:ext cx="6096000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E6A82"/>
                </a:solidFill>
                <a:latin typeface="DM Sans"/>
              </a:rPr>
              <a:t>Cerca de R$ 380 por post produzido. Moodboard mensal "Escopo 3 fotos / 3 gráficos / 2 vídeos".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27333" y="1481666"/>
            <a:ext cx="4453466" cy="1608666"/>
          </a:xfrm>
          <a:prstGeom prst="roundRect">
            <a:avLst>
              <a:gd name="adj" fmla="val 7368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30533" y="1667933"/>
            <a:ext cx="404706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C2562E"/>
                </a:solidFill>
                <a:latin typeface="DM Sans"/>
              </a:rPr>
              <a:t>REDES E INTELIGÊNCIA · INCLUSO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0533" y="1888066"/>
            <a:ext cx="4047066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8 publicações no Meta, 8 no Pinterest, 2 no TikTok e 2 no YouTube, com relatório mensal de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27333" y="3259666"/>
            <a:ext cx="4453466" cy="1778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30533" y="3445933"/>
            <a:ext cx="40470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Quem faz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0533" y="3733800"/>
            <a:ext cx="4047066" cy="116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Carolina Loureiro no planejamento e deck mensal, Raquel Da Paz na produção. Dinâmica das fotos aprovada pela Bianca em 25/09. Vídeos de outubro na diária de 22/10 com o Will.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C2562E"/>
                </a:solidFill>
                <a:latin typeface="DM Sans"/>
              </a:rPr>
              <a:t>JANOD · FRENTE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Mídia paga e tráfego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1200" y="1481666"/>
          <a:ext cx="5418666" cy="21674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05850"/>
                <a:gridCol w="3317551"/>
                <a:gridCol w="995265"/>
              </a:tblGrid>
              <a:tr h="541866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PLATAFORMA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ESCOPO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GESTÃO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4186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Meta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3A5C"/>
                          </a:solidFill>
                          <a:latin typeface="DM Sans"/>
                        </a:rPr>
                        <a:t>6 posts + 2 vídeos, seguidores e engajamento, tráfego para o site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R$ 1.250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4186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Google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3A5C"/>
                          </a:solidFill>
                          <a:latin typeface="DM Sans"/>
                        </a:rPr>
                        <a:t>6 posts + 2 vídeos: branding, concorrentes, YouTube e PMax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R$ 1.250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54186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Total da frente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R$ 2.500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6233F"/>
                      </a:solidFill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1200" y="3894666"/>
            <a:ext cx="5418666" cy="1608666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4080933"/>
            <a:ext cx="5012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Também rodando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68800"/>
            <a:ext cx="5012266" cy="999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TikTok patrocinado dos vídeos, reportado na weekly. Verba extra de cerca de R$ 10 mil discutida para outubro, para mídia e influenciador pago menor. Gestão: Gabrielle Duarte.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4666" y="1481666"/>
            <a:ext cx="5080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WEEKLY DE 09/10/2026 · SEMANA DA COLLAB NIINA SECRETS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4666" y="1735666"/>
            <a:ext cx="2438400" cy="1693333"/>
          </a:xfrm>
          <a:prstGeom prst="roundRect">
            <a:avLst>
              <a:gd name="adj" fmla="val 70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37866" y="1921933"/>
            <a:ext cx="203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C2562E"/>
                </a:solidFill>
                <a:latin typeface="DM Sans"/>
              </a:rPr>
              <a:t>META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7866" y="2142066"/>
            <a:ext cx="2032000" cy="369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56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7866" y="2579793"/>
            <a:ext cx="2032000" cy="713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alcance com R$ 573,85 · CTR 2,55% · 530 visitas à landing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2400" y="1735666"/>
            <a:ext cx="2438400" cy="1693333"/>
          </a:xfrm>
          <a:prstGeom prst="roundRect">
            <a:avLst>
              <a:gd name="adj" fmla="val 7000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45600" y="1921933"/>
            <a:ext cx="203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C2562E"/>
                </a:solidFill>
                <a:latin typeface="DM Sans"/>
              </a:rPr>
              <a:t>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5600" y="2142066"/>
            <a:ext cx="2032000" cy="369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30" b="1" i="0">
                <a:solidFill>
                  <a:srgbClr val="16233F"/>
                </a:solidFill>
                <a:latin typeface="Fraunces"/>
              </a:rPr>
              <a:t>3.118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5600" y="2579793"/>
            <a:ext cx="2032000" cy="713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conversões e 127 mil impressões com R$ 193,06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4666" y="3598333"/>
            <a:ext cx="5046133" cy="1439333"/>
          </a:xfrm>
          <a:prstGeom prst="roundRect">
            <a:avLst>
              <a:gd name="adj" fmla="val 8235"/>
            </a:avLst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37866" y="3784600"/>
            <a:ext cx="46397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C547"/>
                </a:solidFill>
                <a:latin typeface="DM Sans"/>
              </a:rPr>
              <a:t>TIKTOK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7866" y="4004733"/>
            <a:ext cx="4639733" cy="389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70" b="1" i="0">
                <a:solidFill>
                  <a:srgbClr val="FFFFFF"/>
                </a:solidFill>
                <a:latin typeface="Fraunces"/>
              </a:rPr>
              <a:t>839 mil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7866" y="4461933"/>
            <a:ext cx="4639733" cy="440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B9C2D8"/>
                </a:solidFill>
                <a:latin typeface="DM Sans"/>
              </a:rPr>
              <a:t>704 mil impressões, CTR 3,63% e 845 curtidas com R$ 210,74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C2562E"/>
                </a:solidFill>
                <a:latin typeface="DM Sans"/>
              </a:rPr>
              <a:t>JANOD · FRENTES 4 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SAC 3.0 e seeding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1200" y="1524000"/>
            <a:ext cx="5249333" cy="3979333"/>
          </a:xfrm>
          <a:prstGeom prst="roundRect">
            <a:avLst>
              <a:gd name="adj" fmla="val 2978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10266"/>
            <a:ext cx="48429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C2562E"/>
                </a:solidFill>
                <a:latin typeface="DM Sans"/>
              </a:rPr>
              <a:t>SAC 3.0 · R$ 1.752,50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0400"/>
            <a:ext cx="4842933" cy="3437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70" b="0" i="0">
                <a:solidFill>
                  <a:srgbClr val="2B3A5C"/>
                </a:solidFill>
                <a:latin typeface="DM Sans"/>
              </a:rPr>
              <a:t>•  Facebook e Instagram: feed, direct e stories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70" b="0" i="0">
                <a:solidFill>
                  <a:srgbClr val="2B3A5C"/>
                </a:solidFill>
                <a:latin typeface="DM Sans"/>
              </a:rPr>
              <a:t>•  Repost de stories e inclusão nos destaques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70" b="0" i="0">
                <a:solidFill>
                  <a:srgbClr val="2B3A5C"/>
                </a:solidFill>
                <a:latin typeface="DM Sans"/>
              </a:rPr>
              <a:t>•  Planejamento de FAQ, alinhamento semanal e análise de resultados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70" b="0" i="0">
                <a:solidFill>
                  <a:srgbClr val="2B3A5C"/>
                </a:solidFill>
                <a:latin typeface="DM Sans"/>
              </a:rPr>
              <a:t>•  Checagem 3x ao dia, segunda a sexta, até 300 interações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70" b="0" i="0">
                <a:solidFill>
                  <a:srgbClr val="2B3A5C"/>
                </a:solidFill>
                <a:latin typeface="DM Sans"/>
              </a:rPr>
              <a:t>•  Weekly de 02/10: 47 interações, 1 negativa e 4 dúvidas, com ocorrências de logística em acompanhamento. Equipe: Naiara Capuzzo.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0666" y="1524000"/>
            <a:ext cx="5300133" cy="3979333"/>
          </a:xfrm>
          <a:prstGeom prst="roundRect">
            <a:avLst>
              <a:gd name="adj" fmla="val 2978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83866" y="1710266"/>
            <a:ext cx="491066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C2562E"/>
                </a:solidFill>
                <a:latin typeface="DM Sans"/>
              </a:rPr>
              <a:t>SEEDING · R$ 900 · 3 POR MÊS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3866" y="1947333"/>
            <a:ext cx="491066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Janod é marca cara: a Bia prioriza perfis com alta chance de postagem e permuta. Mailings aprovados pela Bianca em 21/10: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3866" y="3149600"/>
            <a:ext cx="4893733" cy="8466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83866" y="2777066"/>
            <a:ext cx="1185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70" b="1" i="0">
                <a:solidFill>
                  <a:srgbClr val="16233F"/>
                </a:solidFill>
                <a:latin typeface="DM Sans"/>
              </a:rPr>
              <a:t>Novembro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0666" y="2777066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@luaracosta · @leticia · @betalotti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83866" y="3810000"/>
            <a:ext cx="4893733" cy="8466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83866" y="3437466"/>
            <a:ext cx="1185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70" b="1" i="0">
                <a:solidFill>
                  <a:srgbClr val="16233F"/>
                </a:solidFill>
                <a:latin typeface="DM Sans"/>
              </a:rPr>
              <a:t>Dezembro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0666" y="3437466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@mayaraosa · @giuliarcastro · @cidinha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3866" y="4470400"/>
            <a:ext cx="4893733" cy="8466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83866" y="4097866"/>
            <a:ext cx="1185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70" b="1" i="0">
                <a:solidFill>
                  <a:srgbClr val="16233F"/>
                </a:solidFill>
                <a:latin typeface="DM Sans"/>
              </a:rPr>
              <a:t>Janeiro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0666" y="4097866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@juliacardones · @dudassilva · @rubiatretto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3866" y="5130800"/>
            <a:ext cx="4893733" cy="8466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83866" y="4758266"/>
            <a:ext cx="1185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70" b="1" i="0">
                <a:solidFill>
                  <a:srgbClr val="16233F"/>
                </a:solidFill>
                <a:latin typeface="DM Sans"/>
              </a:rPr>
              <a:t>Setembro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0666" y="4758266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B3A5C"/>
                </a:solidFill>
                <a:latin typeface="DM Sans"/>
              </a:rPr>
              <a:t>@carlabalta · @joaolucas_baby__ · @fabisantina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C2562E"/>
                </a:solidFill>
                <a:latin typeface="DM Sans"/>
              </a:rPr>
              <a:t>JANOD · FRENTES 6 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Influenciador pago, site e Gofind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846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A collab de Dia das Crianças com a Niina Secrets mostrou o caminho completo: post, mídia, visita ao site e procura em loja medida no Gofind.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2218266"/>
            <a:ext cx="3454400" cy="1778000"/>
          </a:xfrm>
          <a:prstGeom prst="roundRect">
            <a:avLst>
              <a:gd name="adj" fmla="val 6666"/>
            </a:avLst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404533"/>
            <a:ext cx="304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C547"/>
                </a:solidFill>
                <a:latin typeface="DM Sans"/>
              </a:rPr>
              <a:t>NIINA SECRETS · 08/10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4666"/>
            <a:ext cx="3048000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Fraunces"/>
              </a:rPr>
              <a:t>2,4x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9760"/>
            <a:ext cx="30480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B9C2D8"/>
                </a:solidFill>
                <a:latin typeface="DM Sans"/>
              </a:rPr>
              <a:t>sessões no site no dia do Reels (1.509), com "Onde encontrar" 12,6x acima da média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800" y="2218266"/>
            <a:ext cx="3454400" cy="1778000"/>
          </a:xfrm>
          <a:prstGeom prst="roundRect">
            <a:avLst>
              <a:gd name="adj" fmla="val 6666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2404533"/>
            <a:ext cx="304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C2562E"/>
                </a:solidFill>
                <a:latin typeface="DM Sans"/>
              </a:rPr>
              <a:t>GOFIND · 7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24666"/>
            <a:ext cx="3048000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6233F"/>
                </a:solidFill>
                <a:latin typeface="Fraunces"/>
              </a:rPr>
              <a:t>664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9760"/>
            <a:ext cx="30480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buscas no localizador de lojas após a collab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6400" y="2218266"/>
            <a:ext cx="3454400" cy="1778000"/>
          </a:xfrm>
          <a:prstGeom prst="roundRect">
            <a:avLst>
              <a:gd name="adj" fmla="val 6666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0" y="2404533"/>
            <a:ext cx="304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C2562E"/>
                </a:solidFill>
                <a:latin typeface="DM Sans"/>
              </a:rPr>
              <a:t>SITE · SETEMBRO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24666"/>
            <a:ext cx="3048000" cy="46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6233F"/>
                </a:solidFill>
                <a:latin typeface="Fraunces"/>
              </a:rPr>
              <a:t>18.584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9760"/>
            <a:ext cx="30480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30" b="0" i="0">
                <a:solidFill>
                  <a:srgbClr val="5E6A82"/>
                </a:solidFill>
                <a:latin typeface="DM Sans"/>
              </a:rPr>
              <a:t>sessões no janod.com.br, +8% por 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200" y="4165600"/>
            <a:ext cx="5300133" cy="169333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351866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Como a collab foi feita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39733"/>
            <a:ext cx="4893733" cy="1083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21 produtos entregues em mãos em Itupeva. Briefing com o nome Janod, benefícios de motricidade e sentidos e cerca de 3 produtos citados. Contrato na Clicksign em 06/10, sem exclusividade, e Meta pago desde 07/10.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0666" y="4165600"/>
            <a:ext cx="5300133" cy="169333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383866" y="4351866"/>
            <a:ext cx="743373" cy="203200"/>
          </a:xfrm>
          <a:prstGeom prst="roundRect">
            <a:avLst>
              <a:gd name="adj" fmla="val 50000"/>
            </a:avLst>
          </a:prstGeom>
          <a:solidFill>
            <a:srgbClr val="F8EBC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83866" y="4394200"/>
            <a:ext cx="743373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B7791F"/>
                </a:solidFill>
                <a:latin typeface="DM Sans"/>
              </a:rPr>
              <a:t>PENDÊNCIA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3866" y="4656666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Medição do 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3866" y="4944533"/>
            <a:ext cx="4893733" cy="778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O GA4 da Janod não registra page_view: o cliente precisa corrigir o GTM. A MOVE pediu autorização para criar os eventos de contato. Para o Natal, buscar influenciador de valor acessível.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5E6A82"/>
                </a:solidFill>
                <a:latin typeface="DM Sans"/>
              </a:rPr>
              <a:t>NOVA FRENTE · PROPOSTA ENVIADA EM OUTUBRO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Site institucional Maped México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337733"/>
            <a:ext cx="9736666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0" b="0" i="0">
                <a:solidFill>
                  <a:srgbClr val="2B3A5C"/>
                </a:solidFill>
                <a:latin typeface="DM Sans"/>
              </a:rPr>
              <a:t>A Maped México quer seu próprio site a partir da estrutura do janod.com.br. Hoje maped.com.mx é um domínio estacionado. A Bianca indicou a MOVE, que entregou recentemente os sites da Kaloo e da Lilliputiens para o grupo. A prévia "Janod México" já foi enviada.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2455333"/>
            <a:ext cx="5757333" cy="3048000"/>
          </a:xfrm>
          <a:prstGeom prst="roundRect">
            <a:avLst>
              <a:gd name="adj" fmla="val 3888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641600"/>
            <a:ext cx="53509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1D4ED8"/>
                </a:solidFill>
                <a:latin typeface="DM Sans"/>
              </a:rPr>
              <a:t>ESCOPO · ENTREGA EM 30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61733"/>
            <a:ext cx="5350933" cy="2506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70" b="0" i="0">
                <a:solidFill>
                  <a:srgbClr val="2B3A5C"/>
                </a:solidFill>
                <a:latin typeface="DM Sans"/>
              </a:rPr>
              <a:t>•  Mesma arquitetura do site Janod, em espanhol mexicano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70" b="0" i="0">
                <a:solidFill>
                  <a:srgbClr val="2B3A5C"/>
                </a:solidFill>
                <a:latin typeface="DM Sans"/>
              </a:rPr>
              <a:t>•  Catálogo por idade, categoria e coleção, com filtros e busca, até 200 produtos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70" b="0" i="0">
                <a:solidFill>
                  <a:srgbClr val="2B3A5C"/>
                </a:solidFill>
                <a:latin typeface="DM Sans"/>
              </a:rPr>
              <a:t>•  Onde comprar (lojas físicas e Amazon, Mercado Libre, Office Depot, Lumen, Walmart), representantes e blog com 3 artigos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70" b="0" i="0">
                <a:solidFill>
                  <a:srgbClr val="2B3A5C"/>
                </a:solidFill>
                <a:latin typeface="DM Sans"/>
              </a:rPr>
              <a:t>•  GTM, GA4 com conversões, Consent Mode v2, Search Console, SEO técnico e relatório 30 dias após o lançamento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88666" y="2455333"/>
          <a:ext cx="4792132" cy="237066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94755"/>
                <a:gridCol w="1597377"/>
              </a:tblGrid>
              <a:tr h="474133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INVESTIMENTO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30" b="1">
                          <a:solidFill>
                            <a:srgbClr val="5E6A82"/>
                          </a:solidFill>
                          <a:latin typeface="DM Sans"/>
                        </a:rPr>
                        <a:t>VALOR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233F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741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Site completo com medição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R$ 9.500 único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741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Manutenção e relatório (opcional)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R$ 1.500/mês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741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Conteúdo e SEO, 4 artigos (opcional)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R$ 2.500/mês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  <a:tr h="47413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Hosting a partir do 2º ano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6233F"/>
                          </a:solidFill>
                          <a:latin typeface="DM Sans"/>
                        </a:rPr>
                        <a:t>R$ 600/ano</a:t>
                      </a:r>
                    </a:p>
                  </a:txBody>
                  <a:tcPr marL="84666" marR="84666" marT="59266" marB="5926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C7"/>
                      </a:solidFill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1200" y="5689600"/>
            <a:ext cx="10769600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5E6A82"/>
                </a:solidFill>
                <a:latin typeface="DM Sans"/>
              </a:rPr>
              <a:t>Contatos: Nathalia Garzón (Maped México), com intermediação de Bianca Dias e Juliana Patudo. Fatura pode ser em USD (cerca de USD 1.750 o site). Status: aguardando resposta.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5E6A82"/>
                </a:solidFill>
                <a:latin typeface="DM Sans"/>
              </a:rPr>
              <a:t>QUEM FAZ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Equipe MOVE por frente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1200" y="1439333"/>
            <a:ext cx="2590800" cy="1320800"/>
          </a:xfrm>
          <a:prstGeom prst="roundRect">
            <a:avLst>
              <a:gd name="adj" fmla="val 8974"/>
            </a:avLst>
          </a:prstGeom>
          <a:solidFill>
            <a:srgbClr val="1623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625600"/>
            <a:ext cx="218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E8C547"/>
                </a:solidFill>
                <a:latin typeface="DM Sans"/>
              </a:rPr>
              <a:t>DIREÇÃO E ESTRATÉGIA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45733"/>
            <a:ext cx="2184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Fraunces"/>
              </a:rPr>
              <a:t>Marina Parmera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3600"/>
            <a:ext cx="2184400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D5DBEA"/>
                </a:solidFill>
                <a:latin typeface="DM Sans"/>
              </a:rPr>
              <a:t>Estratégia, mídia sênior, Volta às Aulas e novos projetos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4400" y="1439333"/>
            <a:ext cx="2590800" cy="1320800"/>
          </a:xfrm>
          <a:prstGeom prst="roundRect">
            <a:avLst>
              <a:gd name="adj" fmla="val 8974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0" y="1625600"/>
            <a:ext cx="218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ATENDIMENTO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45733"/>
            <a:ext cx="2184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Ariene Nogueira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33600"/>
            <a:ext cx="2184400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2B3A5C"/>
                </a:solidFill>
                <a:latin typeface="DM Sans"/>
              </a:rPr>
              <a:t>Operação, logística, acessos e SAC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1439333"/>
            <a:ext cx="2590800" cy="1320800"/>
          </a:xfrm>
          <a:prstGeom prst="roundRect">
            <a:avLst>
              <a:gd name="adj" fmla="val 8974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1625600"/>
            <a:ext cx="218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MÍDIA PAGA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45733"/>
            <a:ext cx="2184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Gabrielle Duarte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33600"/>
            <a:ext cx="2184400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2B3A5C"/>
                </a:solidFill>
                <a:latin typeface="DM Sans"/>
              </a:rPr>
              <a:t>Meta, Google, TikTok, marketplaces e Gofind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0800" y="1439333"/>
            <a:ext cx="2590800" cy="1320800"/>
          </a:xfrm>
          <a:prstGeom prst="roundRect">
            <a:avLst>
              <a:gd name="adj" fmla="val 8974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0" y="1625600"/>
            <a:ext cx="218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REDES · MAPED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845733"/>
            <a:ext cx="2184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Ana Beatriz Morgado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33600"/>
            <a:ext cx="2184400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2B3A5C"/>
                </a:solidFill>
                <a:latin typeface="DM Sans"/>
              </a:rPr>
              <a:t>Planejamento, calendário e deck mensal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1200" y="2895600"/>
            <a:ext cx="2590800" cy="1320800"/>
          </a:xfrm>
          <a:prstGeom prst="roundRect">
            <a:avLst>
              <a:gd name="adj" fmla="val 8974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3081866"/>
            <a:ext cx="218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REDES · JANOD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02000"/>
            <a:ext cx="2184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Carolina Loureiro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89866"/>
            <a:ext cx="2184400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2B3A5C"/>
                </a:solidFill>
                <a:latin typeface="DM Sans"/>
              </a:rPr>
              <a:t>Planejamento e decks das duas marcas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4400" y="2895600"/>
            <a:ext cx="2590800" cy="1320800"/>
          </a:xfrm>
          <a:prstGeom prst="roundRect">
            <a:avLst>
              <a:gd name="adj" fmla="val 8974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57600" y="3081866"/>
            <a:ext cx="218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PRODUÇÃO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302000"/>
            <a:ext cx="2184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Raquel Da Paz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589866"/>
            <a:ext cx="2184400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2B3A5C"/>
                </a:solidFill>
                <a:latin typeface="DM Sans"/>
              </a:rPr>
              <a:t>Shootings, vídeos e agenda de produção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2895600"/>
            <a:ext cx="2590800" cy="1320800"/>
          </a:xfrm>
          <a:prstGeom prst="roundRect">
            <a:avLst>
              <a:gd name="adj" fmla="val 8974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3081866"/>
            <a:ext cx="218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CRIAÇÃO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02000"/>
            <a:ext cx="2184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Laiane Moura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589866"/>
            <a:ext cx="2184400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2B3A5C"/>
                </a:solidFill>
                <a:latin typeface="DM Sans"/>
              </a:rPr>
              <a:t>Peças gráficas, KV e impressos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40800" y="2895600"/>
            <a:ext cx="2590800" cy="1320800"/>
          </a:xfrm>
          <a:prstGeom prst="roundRect">
            <a:avLst>
              <a:gd name="adj" fmla="val 8974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0" y="3081866"/>
            <a:ext cx="218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INFLUENCIADORES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302000"/>
            <a:ext cx="2184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Bia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589866"/>
            <a:ext cx="2184400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2B3A5C"/>
                </a:solidFill>
                <a:latin typeface="DM Sans"/>
              </a:rPr>
              <a:t>Mailings, press kits, envios e collabs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1200" y="4351866"/>
            <a:ext cx="2590800" cy="1320800"/>
          </a:xfrm>
          <a:prstGeom prst="roundRect">
            <a:avLst>
              <a:gd name="adj" fmla="val 8974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4400" y="4538133"/>
            <a:ext cx="2184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SAC 3.0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758266"/>
            <a:ext cx="2184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Naiara Capuzzo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046133"/>
            <a:ext cx="2184400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69" b="0" i="0">
                <a:solidFill>
                  <a:srgbClr val="2B3A5C"/>
                </a:solidFill>
                <a:latin typeface="DM Sans"/>
              </a:rPr>
              <a:t>Redes, e-mail, WhatsApp e Reclame Aqui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54400" y="4351866"/>
            <a:ext cx="8026400" cy="13208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657600" y="4538133"/>
            <a:ext cx="762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>
                <a:solidFill>
                  <a:srgbClr val="5E6A82"/>
                </a:solidFill>
                <a:latin typeface="DM Sans"/>
              </a:rPr>
              <a:t>DO LADO DA MAPED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4775200"/>
            <a:ext cx="7620000" cy="846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30" b="1" i="0">
                <a:solidFill>
                  <a:srgbClr val="16233F"/>
                </a:solidFill>
                <a:latin typeface="DM Sans"/>
              </a:rPr>
              <a:t>Juliana Patudo</a:t>
            </a:r>
            <a:r>
              <a:rPr sz="1030" b="0" i="0">
                <a:solidFill>
                  <a:srgbClr val="2B3A5C"/>
                </a:solidFill>
                <a:latin typeface="DM Sans"/>
              </a:rPr>
              <a:t> (decisão e budget) · </a:t>
            </a:r>
            <a:r>
              <a:rPr sz="1030" b="1" i="0">
                <a:solidFill>
                  <a:srgbClr val="16233F"/>
                </a:solidFill>
                <a:latin typeface="DM Sans"/>
              </a:rPr>
              <a:t>Bianca Dias</a:t>
            </a:r>
            <a:r>
              <a:rPr sz="1030" b="0" i="0">
                <a:solidFill>
                  <a:srgbClr val="2B3A5C"/>
                </a:solidFill>
                <a:latin typeface="DM Sans"/>
              </a:rPr>
              <a:t> (trade marketing, aprovações) · </a:t>
            </a:r>
            <a:r>
              <a:rPr sz="1030" b="1" i="0">
                <a:solidFill>
                  <a:srgbClr val="16233F"/>
                </a:solidFill>
                <a:latin typeface="DM Sans"/>
              </a:rPr>
              <a:t>Kleber Sousa</a:t>
            </a:r>
            <a:r>
              <a:rPr sz="1030" b="0" i="0">
                <a:solidFill>
                  <a:srgbClr val="2B3A5C"/>
                </a:solidFill>
                <a:latin typeface="DM Sans"/>
              </a:rPr>
              <a:t> (financeiro e adiantamentos) · </a:t>
            </a:r>
            <a:r>
              <a:rPr sz="1030" b="1" i="0">
                <a:solidFill>
                  <a:srgbClr val="16233F"/>
                </a:solidFill>
                <a:latin typeface="DM Sans"/>
              </a:rPr>
              <a:t>Guilherme Azevedo</a:t>
            </a:r>
            <a:r>
              <a:rPr sz="1030" b="0" i="0">
                <a:solidFill>
                  <a:srgbClr val="2B3A5C"/>
                </a:solidFill>
                <a:latin typeface="DM Sans"/>
              </a:rPr>
              <a:t> (marketplace) · </a:t>
            </a:r>
            <a:r>
              <a:rPr sz="1030" b="1" i="0">
                <a:solidFill>
                  <a:srgbClr val="16233F"/>
                </a:solidFill>
                <a:latin typeface="DM Sans"/>
              </a:rPr>
              <a:t>Nathalia Garzón</a:t>
            </a:r>
            <a:r>
              <a:rPr sz="1030" b="0" i="0">
                <a:solidFill>
                  <a:srgbClr val="2B3A5C"/>
                </a:solidFill>
                <a:latin typeface="DM Sans"/>
              </a:rPr>
              <a:t> (Maped México)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41866"/>
            <a:ext cx="9313333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5E6A82"/>
                </a:solidFill>
                <a:latin typeface="DM Sans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78933"/>
            <a:ext cx="10769600" cy="592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30" b="1" i="0">
                <a:solidFill>
                  <a:srgbClr val="16233F"/>
                </a:solidFill>
                <a:latin typeface="Fraunces"/>
              </a:rPr>
              <a:t>O que precisa ser resolvido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1200" y="1439333"/>
            <a:ext cx="5300133" cy="1405466"/>
          </a:xfrm>
          <a:prstGeom prst="roundRect">
            <a:avLst>
              <a:gd name="adj" fmla="val 84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14400" y="1625600"/>
            <a:ext cx="465666" cy="203200"/>
          </a:xfrm>
          <a:prstGeom prst="roundRect">
            <a:avLst>
              <a:gd name="adj" fmla="val 50000"/>
            </a:avLst>
          </a:prstGeom>
          <a:solidFill>
            <a:srgbClr val="DCE6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67933"/>
            <a:ext cx="465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1D4ED8"/>
                </a:solidFill>
                <a:latin typeface="DM Sans"/>
              </a:rPr>
              <a:t>MAPED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0400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1. De acordo da Volta às Aulas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8266"/>
            <a:ext cx="4893733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Aprovação por escrito de Bianca e Juliana para orçamento v3, cronograma e divisão por mês.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0666" y="1439333"/>
            <a:ext cx="5300133" cy="1405466"/>
          </a:xfrm>
          <a:prstGeom prst="roundRect">
            <a:avLst>
              <a:gd name="adj" fmla="val 84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383866" y="1625600"/>
            <a:ext cx="465666" cy="203200"/>
          </a:xfrm>
          <a:prstGeom prst="roundRect">
            <a:avLst>
              <a:gd name="adj" fmla="val 50000"/>
            </a:avLst>
          </a:prstGeom>
          <a:solidFill>
            <a:srgbClr val="DCE6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83866" y="1667933"/>
            <a:ext cx="465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1D4ED8"/>
                </a:solidFill>
                <a:latin typeface="DM Sans"/>
              </a:rPr>
              <a:t>MAPED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3866" y="1930400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2. Alvará e data do shooting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3866" y="2218266"/>
            <a:ext cx="4893733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Data provisória de 12/11. Assinar contratos da Cintra e do Studio Dupret na Clicksign.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200" y="2980266"/>
            <a:ext cx="5300133" cy="1405466"/>
          </a:xfrm>
          <a:prstGeom prst="roundRect">
            <a:avLst>
              <a:gd name="adj" fmla="val 84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14400" y="3166533"/>
            <a:ext cx="465666" cy="203200"/>
          </a:xfrm>
          <a:prstGeom prst="roundRect">
            <a:avLst>
              <a:gd name="adj" fmla="val 50000"/>
            </a:avLst>
          </a:prstGeom>
          <a:solidFill>
            <a:srgbClr val="DCE6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208866"/>
            <a:ext cx="465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1D4ED8"/>
                </a:solidFill>
                <a:latin typeface="DM Sans"/>
              </a:rPr>
              <a:t>MAPED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1333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3. Shopee e Google na emissão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59200"/>
            <a:ext cx="4893733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Confirmar a linha Shopee (anúncios pausados) e o motivo do Google sem faturamento.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0666" y="2980266"/>
            <a:ext cx="5300133" cy="1405466"/>
          </a:xfrm>
          <a:prstGeom prst="roundRect">
            <a:avLst>
              <a:gd name="adj" fmla="val 84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383866" y="3166533"/>
            <a:ext cx="465666" cy="203200"/>
          </a:xfrm>
          <a:prstGeom prst="roundRect">
            <a:avLst>
              <a:gd name="adj" fmla="val 50000"/>
            </a:avLst>
          </a:prstGeom>
          <a:solidFill>
            <a:srgbClr val="E2DCC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83866" y="3208866"/>
            <a:ext cx="465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5E6A82"/>
                </a:solidFill>
                <a:latin typeface="DM Sans"/>
              </a:rPr>
              <a:t>AMBAS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3866" y="3471333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4. GTM dos sites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3866" y="3759200"/>
            <a:ext cx="4893733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Corrigir page_view da Janod e recuperar a medição de lojas e formulário da Maped.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1200" y="4521200"/>
            <a:ext cx="5300133" cy="1405466"/>
          </a:xfrm>
          <a:prstGeom prst="roundRect">
            <a:avLst>
              <a:gd name="adj" fmla="val 84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914400" y="4707466"/>
            <a:ext cx="465666" cy="203200"/>
          </a:xfrm>
          <a:prstGeom prst="roundRect">
            <a:avLst>
              <a:gd name="adj" fmla="val 50000"/>
            </a:avLst>
          </a:prstGeom>
          <a:solidFill>
            <a:srgbClr val="E2DCC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4400" y="4749800"/>
            <a:ext cx="465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5E6A82"/>
                </a:solidFill>
                <a:latin typeface="DM Sans"/>
              </a:rPr>
              <a:t>AMBAS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12266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5. Taxa de 30% em contrato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0133"/>
            <a:ext cx="4893733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Formalizar a gestão de 30% sobre reembolsos e insumos e a forma de mostrá-la na NF.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0666" y="4521200"/>
            <a:ext cx="5300133" cy="1405466"/>
          </a:xfrm>
          <a:prstGeom prst="roundRect">
            <a:avLst>
              <a:gd name="adj" fmla="val 8433"/>
            </a:avLst>
          </a:prstGeom>
          <a:solidFill>
            <a:srgbClr val="EEE8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383866" y="4707466"/>
            <a:ext cx="465666" cy="203200"/>
          </a:xfrm>
          <a:prstGeom prst="roundRect">
            <a:avLst>
              <a:gd name="adj" fmla="val 50000"/>
            </a:avLst>
          </a:prstGeom>
          <a:solidFill>
            <a:srgbClr val="E2DCC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83866" y="4749800"/>
            <a:ext cx="465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 i="0">
                <a:solidFill>
                  <a:srgbClr val="5E6A82"/>
                </a:solidFill>
                <a:latin typeface="DM Sans"/>
              </a:rPr>
              <a:t>AMBAS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3866" y="5012266"/>
            <a:ext cx="48937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6233F"/>
                </a:solidFill>
                <a:latin typeface="Fraunces"/>
              </a:rPr>
              <a:t>6. Escopo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3866" y="5300133"/>
            <a:ext cx="4893733" cy="4910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30" b="0" i="0">
                <a:solidFill>
                  <a:srgbClr val="2B3A5C"/>
                </a:solidFill>
                <a:latin typeface="DM Sans"/>
              </a:rPr>
              <a:t>Renegociar escopos para 2027, incluindo TikTok Shop e as linhas de Janod deixadas para o ano que vem. Retorno da Maped México sobre o site.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200" y="6536266"/>
            <a:ext cx="5080000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70" b="1" i="0">
                <a:solidFill>
                  <a:srgbClr val="16233F"/>
                </a:solidFill>
                <a:latin typeface="DM Sans"/>
              </a:rPr>
              <a:t>MOVE</a:t>
            </a:r>
            <a:r>
              <a:rPr sz="770" b="0" i="0">
                <a:solidFill>
                  <a:srgbClr val="5E6A82"/>
                </a:solidFill>
                <a:latin typeface="DM Sans"/>
              </a:rPr>
              <a:t>  ·  Maped e Janod · Escopo por frente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4133" y="6536266"/>
            <a:ext cx="846666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70" b="0" i="0">
                <a:solidFill>
                  <a:srgbClr val="5E6A82"/>
                </a:solidFill>
                <a:latin typeface="DM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13333" y="4318000"/>
            <a:ext cx="3556000" cy="35560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7789333" y="3979333"/>
            <a:ext cx="1862666" cy="1862666"/>
          </a:xfrm>
          <a:prstGeom prst="ellipse">
            <a:avLst/>
          </a:prstGeom>
          <a:solidFill>
            <a:srgbClr val="C256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7333" y="2370666"/>
            <a:ext cx="7620000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69" b="1" i="0">
                <a:solidFill>
                  <a:srgbClr val="E8C547"/>
                </a:solidFill>
                <a:latin typeface="DM Sans"/>
              </a:rPr>
              <a:t>MOVE PUBLICIDADE · MOVEMENTME.COM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7333" y="2667000"/>
            <a:ext cx="7620000" cy="169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Fraunces"/>
              </a:rPr>
              <a:t>Duas marcas,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0" i="1">
                <a:solidFill>
                  <a:srgbClr val="E8C547"/>
                </a:solidFill>
                <a:latin typeface="Fraunces"/>
              </a:rPr>
              <a:t>um só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333" y="4487333"/>
            <a:ext cx="6773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70" b="0" i="0">
                <a:solidFill>
                  <a:srgbClr val="C9D1E3"/>
                </a:solidFill>
                <a:latin typeface="DM Sans"/>
              </a:rPr>
              <a:t>Marina Parmera · marinaparmera@movementme.com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